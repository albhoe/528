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Montserrat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Lato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2.xml"/><Relationship Id="rId39" Type="http://schemas.openxmlformats.org/officeDocument/2006/relationships/font" Target="fonts/Lato-italic.fntdata"/><Relationship Id="rId16" Type="http://schemas.openxmlformats.org/officeDocument/2006/relationships/slide" Target="slides/slide11.xml"/><Relationship Id="rId38" Type="http://schemas.openxmlformats.org/officeDocument/2006/relationships/font" Target="fonts/La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78d3251f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78d3251f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78d3251f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78d3251f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78d3251f2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78d3251f2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8d3251f2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8d3251f2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78d3251f2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78d3251f2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78d3251f2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78d3251f2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8d3251f2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8d3251f2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78d3251f2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8d3251f2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SYN, FIN, RST = Start, End, 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 = Got you</a:t>
            </a:r>
            <a:br>
              <a:rPr lang="en"/>
            </a:br>
            <a:r>
              <a:rPr lang="en"/>
              <a:t>PSH = Don’t wait to send data to application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URG = Data in packet that is more </a:t>
            </a:r>
            <a:r>
              <a:rPr lang="en"/>
              <a:t>important</a:t>
            </a:r>
            <a:r>
              <a:rPr lang="en"/>
              <a:t> (not really used any more)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ECE = Early congestion notification (Not used in the internet but a lot inside DCs)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CWR = Acknowledge the ECE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957d38be4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957d38be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78d3251f2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78d3251f2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8d3251f2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8d3251f2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8d3251f2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8d3251f2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8d3251f2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8d3251f2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 the max sending rate MSS / (RTT * sqrt(p)).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reality this only works for packet loss rates </a:t>
            </a:r>
            <a:r>
              <a:rPr lang="en"/>
              <a:t>between 0.001 and 1%.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8d3251f2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8d3251f2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78d3251f2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78d3251f2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8d3251f2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78d3251f2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78d3251f2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78d3251f2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8d3251f2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8d3251f2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8d3251f2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78d3251f2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78d3251f2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78d3251f2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8d3251f2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78d3251f2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78d3251f2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78d3251f2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78d3251f2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78d3251f2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957d38be4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957d38be4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957d38be4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957d38be4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94a2fa18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94a2fa18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n.wikipedia.org/wiki/Reserved_IP_addresse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en.wikipedia.org/wiki/Internet_Protocol_version_4#Header" TargetMode="External"/><Relationship Id="rId4" Type="http://schemas.openxmlformats.org/officeDocument/2006/relationships/image" Target="../media/image8.png"/><Relationship Id="rId5" Type="http://schemas.openxmlformats.org/officeDocument/2006/relationships/hyperlink" Target="https://en.wikipedia.org/wiki/IPv6_packet#Fixed_header" TargetMode="External"/><Relationship Id="rId6" Type="http://schemas.openxmlformats.org/officeDocument/2006/relationships/hyperlink" Target="https://en.wikipedia.org/wiki/Internet_Protocol_version_4#Header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n.wikipedia.org/wiki/Transmission_Control_Protocol#TCP_segment_structure" TargetMode="External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ieeexplore.ieee.org/document/9811217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redbooks.ibm.com/redbooks/pdfs/gg243376.pdf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hyperlink" Target="https://www.kentik.com/blog/bgp-routing-tutorial-series-part-1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thousandeyes.com/blog/4-real-bgp-troubleshooting-scenarios" TargetMode="External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cnet.com/culture/how-pakistan-knocked-youtube-offline-and-how-to-make-sure-it-never-happens-again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piazza.com/class/mkctevprups13o/post/14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100900" cy="19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Networking -- </a:t>
            </a:r>
            <a:br>
              <a:rPr lang="en"/>
            </a:br>
            <a:r>
              <a:rPr lang="en"/>
              <a:t>IP, TCP, BGP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Leonidas Kontothanassis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they stand for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IP =&gt; Internet Protocol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Names and allows devices to be reached on the Internet or Intranet.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TCP =&gt; Transmission Control Protocol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Makes transmission of data between devices reliable, cooperative, and fast.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BGP =&gt; Border Gateway Protocol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Allows independent networks to tell each other what devices they contain and how to reach them.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Digression (The OSI model)</a:t>
            </a:r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901" y="1102675"/>
            <a:ext cx="5494208" cy="393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addresses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IPv4 -- 32 bit addresses commonly written as x.y.z.w with values ranging from 0-255</a:t>
            </a:r>
            <a:endParaRPr/>
          </a:p>
          <a:p>
            <a:pPr indent="-30003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</a:t>
            </a:r>
            <a:r>
              <a:rPr lang="en"/>
              <a:t>ubnets defined with /.  E.g. 10.0.0.0/8 implies all addresses that start with 10. </a:t>
            </a:r>
            <a:r>
              <a:rPr lang="en"/>
              <a:t>w</a:t>
            </a:r>
            <a:r>
              <a:rPr lang="en"/>
              <a:t>hile 10.0.0.0/16 implies all addresses that start with 10.0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IPv6 -- 128 bit addresses commonly written as a:b:c:d:e:f:g:h</a:t>
            </a:r>
            <a:endParaRPr/>
          </a:p>
          <a:p>
            <a:pPr indent="-30003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</a:t>
            </a:r>
            <a:r>
              <a:rPr lang="en"/>
              <a:t>refixes defined with same notation 2001:db1:abc1:0012::0/64 implies all addresses that start with </a:t>
            </a:r>
            <a:r>
              <a:rPr lang="en"/>
              <a:t>2001:db1:abc1:0012</a:t>
            </a:r>
            <a:endParaRPr/>
          </a:p>
          <a:p>
            <a:pPr indent="-30003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first 48 bits identify the network, next 16 bits the subnetwork and last 64 bits the device within the network.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arin.net (or ripe.net, apnic.net, lacnic.net, afrinic.net, …) to find out who a particular ip address belongs to. Knows as the Regional Internet Registries (RIRs)</a:t>
            </a:r>
            <a:endParaRPr/>
          </a:p>
          <a:p>
            <a:pPr indent="-30003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Lower level are NIRs (National Internet Registries) and LIRs (Local Internet Registries)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addresses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Class A (x.0.0.0/8).  Traditionally those that started with 1-126 but have now been subdivided</a:t>
            </a:r>
            <a:endParaRPr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Class B (x.y.0.0/16). Traditionally those that started with 128-191</a:t>
            </a:r>
            <a:endParaRPr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Class C (x.y.z.0/24).  Traditionally those that started with 192-223.</a:t>
            </a:r>
            <a:endParaRPr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Multicast space (224-239).0.0.0/8</a:t>
            </a:r>
            <a:endParaRPr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Reserved space 240.0.0.0/4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addresses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Private IP addresses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0.0.0.0/8 -&gt; Shorthand for the network I am in.  Not routable.  0.0.0.0 is the current host.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10.0.0.0/8 -&gt; Private network for very large orgs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100.64.0.0/10 -&gt; Private Network. Used by ISPs with carrier grade NATs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172.16.0.0/12 -&gt; Private network for medium size orgs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192.168.0.0/16 -&gt; Private network for small orgs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192.0.0.0/24 -&gt; Private network for the IETF (NAT64, DNS64)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127.0.0.0/8 -&gt; Localhost addresses</a:t>
            </a:r>
            <a:endParaRPr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Full list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Header</a:t>
            </a:r>
            <a:endParaRPr/>
          </a:p>
        </p:txBody>
      </p:sp>
      <p:pic>
        <p:nvPicPr>
          <p:cNvPr id="171" name="Google Shape;171;p1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11588"/>
            <a:ext cx="8839199" cy="277803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362475" y="4493350"/>
            <a:ext cx="29202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For IPv6 see here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1321750" y="43957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Internet Protocol version 4 - Wikipedia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TCP protocol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Reliable, co-operative, in-order delivery on top of an unreliable medium.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Key concepts: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Sequence numbers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Acknowledgements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Timeouts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Congestion control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Header</a:t>
            </a:r>
            <a:endParaRPr/>
          </a:p>
        </p:txBody>
      </p:sp>
      <p:pic>
        <p:nvPicPr>
          <p:cNvPr id="185" name="Google Shape;185;p2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60250"/>
            <a:ext cx="8839203" cy="3125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States</a:t>
            </a:r>
            <a:endParaRPr/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400" y="996963"/>
            <a:ext cx="7851674" cy="405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TCP State Diagram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8" name="Google Shape;19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4200" y="1307850"/>
            <a:ext cx="4684261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Recovery</a:t>
            </a:r>
            <a:endParaRPr/>
          </a:p>
        </p:txBody>
      </p:sp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When receiving packets in sequence acknowledge sequence number of received packet</a:t>
            </a:r>
            <a:endParaRPr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When out of order acknowledge sequence number of last in-order packet</a:t>
            </a:r>
            <a:endParaRPr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Resend packets when receiving a duplicate ack</a:t>
            </a:r>
            <a:endParaRPr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Resend packets when no ack received after specified timeout.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Congestion control</a:t>
            </a:r>
            <a:endParaRPr/>
          </a:p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Congestion window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How many packets in flight?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Start small (slow start)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Increase window when things go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Decrease </a:t>
            </a:r>
            <a:r>
              <a:rPr lang="en"/>
              <a:t>window when things go poorly (i.e packet loss)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packet loss (i.e. out of order delivery) is considered benign and thus will not reduce window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congestion control</a:t>
            </a:r>
            <a:endParaRPr/>
          </a:p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Adjust window based on packet loss (TCP Cubic, most common)</a:t>
            </a:r>
            <a:endParaRPr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Adjust window based on observed packet latency (TCP Vegas, less common)</a:t>
            </a:r>
            <a:endParaRPr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Adjust window based on observed throughput (TCP BBR, most recent </a:t>
            </a:r>
            <a:r>
              <a:rPr lang="en"/>
              <a:t>flavor)</a:t>
            </a:r>
            <a:endParaRPr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Check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https://ieeexplore.ieee.org/document/9811217</a:t>
            </a:r>
            <a:r>
              <a:rPr lang="en"/>
              <a:t> for comparisons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packets get lost?</a:t>
            </a:r>
            <a:endParaRPr/>
          </a:p>
        </p:txBody>
      </p:sp>
      <p:pic>
        <p:nvPicPr>
          <p:cNvPr id="222" name="Google Shape;2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6913" y="1307850"/>
            <a:ext cx="5763965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Reading</a:t>
            </a:r>
            <a:endParaRPr/>
          </a:p>
        </p:txBody>
      </p:sp>
      <p:sp>
        <p:nvSpPr>
          <p:cNvPr id="228" name="Google Shape;228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Nice free resource: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https://www.redbooks.ibm.com/redbooks/pdfs/gg243376.pdf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BGP protocol</a:t>
            </a:r>
            <a:endParaRPr/>
          </a:p>
        </p:txBody>
      </p:sp>
      <p:sp>
        <p:nvSpPr>
          <p:cNvPr id="234" name="Google Shape;234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IP routes to hosts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TCP makes sure packets are delivered reliably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BGP makes sure the routers know where the hosts are!!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 Key concepts</a:t>
            </a:r>
            <a:endParaRPr/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Routes and Autonomous Systems</a:t>
            </a:r>
            <a:endParaRPr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Within an network the network should know how to reach all host</a:t>
            </a:r>
            <a:endParaRPr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Can be achieved with iBGP, OSPF, IS-IS or other protocols</a:t>
            </a:r>
            <a:endParaRPr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 network itself is known to the rest of the internet with a unique number known as its AS number.</a:t>
            </a:r>
            <a:endParaRPr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 network is connected to the internet using border routers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Peering</a:t>
            </a:r>
            <a:endParaRPr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Border routers connect directly to each other and tell each other which IP addresses they can provide connectivity to.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Paths</a:t>
            </a:r>
            <a:endParaRPr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When announcing a route over a peering session the receiving router prepends the received data with the AS for the sending router and propagates that information to other border routers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 Route exchange</a:t>
            </a:r>
            <a:endParaRPr/>
          </a:p>
        </p:txBody>
      </p:sp>
      <p:pic>
        <p:nvPicPr>
          <p:cNvPr id="246" name="Google Shape;2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440" y="1061650"/>
            <a:ext cx="5880175" cy="336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 txBox="1"/>
          <p:nvPr/>
        </p:nvSpPr>
        <p:spPr>
          <a:xfrm>
            <a:off x="2007288" y="4527525"/>
            <a:ext cx="4828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Source: Avi Freedman -- Kentik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Messy BGP reality</a:t>
            </a:r>
            <a:endParaRPr/>
          </a:p>
        </p:txBody>
      </p:sp>
      <p:pic>
        <p:nvPicPr>
          <p:cNvPr id="253" name="Google Shape;253;p3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6625" y="1173000"/>
            <a:ext cx="6052701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 extras</a:t>
            </a:r>
            <a:endParaRPr/>
          </a:p>
        </p:txBody>
      </p:sp>
      <p:sp>
        <p:nvSpPr>
          <p:cNvPr id="259" name="Google Shape;259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Some hosts can be reached by multiple paths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Prefer most specific path (i.e. a /16 advertisement is preferable than a /8)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Prefer shortest path.  If an advertisement is equally specific, shortest AS path is preferred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Community tags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of a gentleman’s agreement, but widely observed.  Attach certain metadata to the advertisement that informs a peer of your preferences.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OSI layer is BGP?</a:t>
            </a:r>
            <a:endParaRPr/>
          </a:p>
        </p:txBody>
      </p:sp>
      <p:sp>
        <p:nvSpPr>
          <p:cNvPr id="265" name="Google Shape;265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Layer 4?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Layer 7?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TCP relies on IP which relies on BGP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BGP relies on TCP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Most common answer:  BGP operates at layer 4 but controls layer 3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 problems</a:t>
            </a:r>
            <a:endParaRPr/>
          </a:p>
        </p:txBody>
      </p:sp>
      <p:sp>
        <p:nvSpPr>
          <p:cNvPr id="271" name="Google Shape;271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Loops!  (must be detected and avoided)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Hijacking: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https://www.cnet.com/culture/how-pakistan-knocked-youtube-offline-and-how-to-make-sure-it-never-happens-again/</a:t>
            </a:r>
            <a:endParaRPr sz="1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Asymmetric routes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Internet Blocking and Censorship (in </a:t>
            </a:r>
            <a:r>
              <a:rPr lang="en"/>
              <a:t>conjunction with other protocols).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 ticking time bomb?</a:t>
            </a:r>
            <a:endParaRPr/>
          </a:p>
        </p:txBody>
      </p:sp>
      <p:sp>
        <p:nvSpPr>
          <p:cNvPr id="277" name="Google Shape;277;p3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Currently ~0.9 million IPv4 routes and 0.1 million IPv6 routes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Most deployed routers can </a:t>
            </a:r>
            <a:r>
              <a:rPr lang="en"/>
              <a:t>handle</a:t>
            </a:r>
            <a:r>
              <a:rPr lang="en"/>
              <a:t> a little more than 1 million IPv4 and 0.15 million IPv6 routes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internet could break spectacularly, if limits are exceeded but ISPs and administrators are aware and managing appropriately.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Routers work?</a:t>
            </a:r>
            <a:endParaRPr/>
          </a:p>
        </p:txBody>
      </p:sp>
      <p:pic>
        <p:nvPicPr>
          <p:cNvPr id="283" name="Google Shape;28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650" y="1026250"/>
            <a:ext cx="4083325" cy="145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7"/>
          <p:cNvSpPr txBox="1"/>
          <p:nvPr/>
        </p:nvSpPr>
        <p:spPr>
          <a:xfrm>
            <a:off x="1134850" y="1129450"/>
            <a:ext cx="3399300" cy="3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Router matches destination address in IP packet with all routes installed in its CAM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Most specific match (bitwise XNOR where all values are 1 and have the fewest Xs) wins.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entry</a:t>
            </a: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that wins identifies the output port on the router and the packet gets forwarded to that port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5" name="Google Shape;285;p37"/>
          <p:cNvPicPr preferRelativeResize="0"/>
          <p:nvPr/>
        </p:nvPicPr>
        <p:blipFill rotWithShape="1">
          <a:blip r:embed="rId4">
            <a:alphaModFix/>
          </a:blip>
          <a:srcRect b="0" l="29193" r="28820" t="0"/>
          <a:stretch/>
        </p:blipFill>
        <p:spPr>
          <a:xfrm>
            <a:off x="4868650" y="2481475"/>
            <a:ext cx="4083325" cy="218447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7"/>
          <p:cNvSpPr txBox="1"/>
          <p:nvPr/>
        </p:nvSpPr>
        <p:spPr>
          <a:xfrm>
            <a:off x="4914075" y="4680600"/>
            <a:ext cx="4038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 to 16 line cards, with up to 48 ports each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CAM?</a:t>
            </a:r>
            <a:endParaRPr/>
          </a:p>
        </p:txBody>
      </p:sp>
      <p:sp>
        <p:nvSpPr>
          <p:cNvPr id="292" name="Google Shape;292;p3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Typical </a:t>
            </a:r>
            <a:r>
              <a:rPr lang="en"/>
              <a:t>memory: Given an address return the contents of that address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Content addressable memory: Given a value, return the address that best matches that value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Poll</a:t>
            </a:r>
            <a:endParaRPr/>
          </a:p>
        </p:txBody>
      </p:sp>
      <p:sp>
        <p:nvSpPr>
          <p:cNvPr id="298" name="Google Shape;298;p3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https://piazza.com/class/mkctevprups13o/post/148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