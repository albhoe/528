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Montserrat"/>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7F92DA-FB50-4766-94E9-29ECBFBDFDBE}">
  <a:tblStyle styleId="{347F92DA-FB50-4766-94E9-29ECBFBDFDB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33" Type="http://schemas.openxmlformats.org/officeDocument/2006/relationships/font" Target="fonts/Lato-regular.fntdata"/><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35" Type="http://schemas.openxmlformats.org/officeDocument/2006/relationships/font" Target="fonts/Lato-italic.fntdata"/><Relationship Id="rId12" Type="http://schemas.openxmlformats.org/officeDocument/2006/relationships/slide" Target="slides/slide6.xml"/><Relationship Id="rId34" Type="http://schemas.openxmlformats.org/officeDocument/2006/relationships/font" Target="fonts/Lat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La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b5f75c49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b5f75c49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7b5f75c49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7b5f75c49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7b4fd8e1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7b4fd8e1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7b5f75c49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7b5f75c49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7b5f75c49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7b5f75c49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Plane (move packets)</a:t>
            </a:r>
            <a:endParaRPr/>
          </a:p>
          <a:p>
            <a:pPr indent="0" lvl="0" marL="0" rtl="0" algn="l">
              <a:spcBef>
                <a:spcPts val="0"/>
              </a:spcBef>
              <a:spcAft>
                <a:spcPts val="0"/>
              </a:spcAft>
              <a:buNone/>
            </a:pPr>
            <a:r>
              <a:rPr lang="en"/>
              <a:t>Control Plane (tell the Data plane how to move packets)</a:t>
            </a:r>
            <a:endParaRPr/>
          </a:p>
          <a:p>
            <a:pPr indent="0" lvl="0" marL="0" rtl="0" algn="l">
              <a:spcBef>
                <a:spcPts val="0"/>
              </a:spcBef>
              <a:spcAft>
                <a:spcPts val="0"/>
              </a:spcAft>
              <a:buNone/>
            </a:pPr>
            <a:r>
              <a:rPr lang="en"/>
              <a:t>Management Plane (manage the devices that move the packets.  You would not need it if you only provisioned/deleted VMs)</a:t>
            </a:r>
            <a:endParaRPr/>
          </a:p>
          <a:p>
            <a:pPr indent="0" lvl="0" marL="0" rtl="0" algn="l">
              <a:spcBef>
                <a:spcPts val="0"/>
              </a:spcBef>
              <a:spcAft>
                <a:spcPts val="0"/>
              </a:spcAft>
              <a:buNone/>
            </a:pPr>
            <a:r>
              <a:rPr lang="en"/>
              <a:t>Services Plane (other value add </a:t>
            </a:r>
            <a:r>
              <a:rPr lang="en"/>
              <a:t>networking</a:t>
            </a:r>
            <a:r>
              <a:rPr lang="en"/>
              <a:t> features).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7b5f75c49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7b5f75c49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7b5f75c49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7b5f75c49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Openflow actions: Port, All(Flood), Controller (send to software on switch), Local (Traditional switch networking stack), In-port, drop, group actions.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70080f9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70080f9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7b5f75c49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7b5f75c49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7b5f75c49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7b5f75c49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the flows, how stuff goes through the fast and vswitchd.  FastPath has the top N flows in an LRU cache. Sends packet to destinations based on what its cache says.  If not in cache talk to vswitchd.  Vswitchd may know how to send direct or may install a forwarding rule saying “send to hoverboard”. Vswitchd also records which of those flows have high usage and may upgrade them to send direct.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7b5f75c49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7b5f75c49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7b5f75c49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7b5f75c49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two?  Fabric deals with the higher level operations as you see them in the console.  Switch deals with the low level hardware and their variations.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7b5f75c49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7b5f75c49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Talk about the GFE outage I caused that brought Google cloud down (pre-open connections and new QUIC feature crashing all GFE2 instances).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7b5f75c49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7b5f75c49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7b5f75c49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7b5f75c49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7b5f75c49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7b5f75c49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7b5f75c49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7b5f75c49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7b5f75c49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7b5f75c49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7b5f75c49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7b5f75c49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7b5f75c49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7b5f75c49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9a4519f10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9a4519f10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81000" lvl="0" marL="457200">
              <a:spcBef>
                <a:spcPts val="0"/>
              </a:spcBef>
              <a:spcAft>
                <a:spcPts val="0"/>
              </a:spcAft>
              <a:buSzPts val="2400"/>
              <a:buChar char="●"/>
              <a:defRPr sz="2400"/>
            </a:lvl1pPr>
            <a:lvl2pPr indent="-342900" lvl="1" marL="914400">
              <a:spcBef>
                <a:spcPts val="0"/>
              </a:spcBef>
              <a:spcAft>
                <a:spcPts val="0"/>
              </a:spcAft>
              <a:buSzPts val="1800"/>
              <a:buChar char="○"/>
              <a:defRPr sz="1800"/>
            </a:lvl2pPr>
            <a:lvl3pPr indent="-317500" lvl="2" marL="1371600">
              <a:spcBef>
                <a:spcPts val="0"/>
              </a:spcBef>
              <a:spcAft>
                <a:spcPts val="0"/>
              </a:spcAft>
              <a:buSzPts val="1400"/>
              <a:buChar char="■"/>
              <a:defRPr sz="1400"/>
            </a:lvl3pPr>
            <a:lvl4pPr indent="-304800" lvl="3" marL="1828800">
              <a:spcBef>
                <a:spcPts val="0"/>
              </a:spcBef>
              <a:spcAft>
                <a:spcPts val="0"/>
              </a:spcAft>
              <a:buSzPts val="1200"/>
              <a:buChar char="●"/>
              <a:defRPr sz="1200"/>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loud.google.com/vpc/docs/overview" TargetMode="External"/><Relationship Id="rId4" Type="http://schemas.openxmlformats.org/officeDocument/2006/relationships/image" Target="../media/image1.png"/><Relationship Id="rId5" Type="http://schemas.openxmlformats.org/officeDocument/2006/relationships/hyperlink" Target="https://cloud.google.com/vpc/docs/overview" TargetMode="External"/></Relationships>
</file>

<file path=ppt/slides/_rels/slide3.xml.rels><?xml version="1.0" encoding="UTF-8" standalone="yes"?><Relationships xmlns="http://schemas.openxmlformats.org/package/2006/relationships"><Relationship Id="rId20" Type="http://schemas.openxmlformats.org/officeDocument/2006/relationships/hyperlink" Target="https://cloud.google.com/vpc/docs/overview" TargetMode="External"/><Relationship Id="rId11" Type="http://schemas.openxmlformats.org/officeDocument/2006/relationships/hyperlink" Target="https://cloud.google.com/vpc/docs/overview" TargetMode="External"/><Relationship Id="rId10" Type="http://schemas.openxmlformats.org/officeDocument/2006/relationships/hyperlink" Target="https://cloud.google.com/vpc/docs/overview" TargetMode="External"/><Relationship Id="rId21" Type="http://schemas.openxmlformats.org/officeDocument/2006/relationships/hyperlink" Target="https://cloud.google.com/vpc/docs/overview" TargetMode="External"/><Relationship Id="rId13" Type="http://schemas.openxmlformats.org/officeDocument/2006/relationships/hyperlink" Target="https://cloud.google.com/vpc/docs/overview" TargetMode="External"/><Relationship Id="rId12" Type="http://schemas.openxmlformats.org/officeDocument/2006/relationships/hyperlink" Target="https://cloud.google.com/vpc/docs/overview" TargetMode="External"/><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loud.google.com/vpc/docs/overview" TargetMode="External"/><Relationship Id="rId4" Type="http://schemas.openxmlformats.org/officeDocument/2006/relationships/image" Target="../media/image1.png"/><Relationship Id="rId9" Type="http://schemas.openxmlformats.org/officeDocument/2006/relationships/hyperlink" Target="https://cloud.google.com/vpc/docs/overview" TargetMode="External"/><Relationship Id="rId15" Type="http://schemas.openxmlformats.org/officeDocument/2006/relationships/hyperlink" Target="https://cloud.google.com/vpc/docs/overview" TargetMode="External"/><Relationship Id="rId14" Type="http://schemas.openxmlformats.org/officeDocument/2006/relationships/hyperlink" Target="https://cloud.google.com/vpc/docs/overview" TargetMode="External"/><Relationship Id="rId17" Type="http://schemas.openxmlformats.org/officeDocument/2006/relationships/hyperlink" Target="https://cloud.google.com/vpc/docs/overview" TargetMode="External"/><Relationship Id="rId16" Type="http://schemas.openxmlformats.org/officeDocument/2006/relationships/hyperlink" Target="https://cloud.google.com/vpc/docs/overview" TargetMode="External"/><Relationship Id="rId5" Type="http://schemas.openxmlformats.org/officeDocument/2006/relationships/hyperlink" Target="https://cloud.google.com/vpc/docs/overview" TargetMode="External"/><Relationship Id="rId19" Type="http://schemas.openxmlformats.org/officeDocument/2006/relationships/hyperlink" Target="https://cloud.google.com/vpc/docs/overview" TargetMode="External"/><Relationship Id="rId6" Type="http://schemas.openxmlformats.org/officeDocument/2006/relationships/hyperlink" Target="https://cloud.google.com/vpc/docs/overview" TargetMode="External"/><Relationship Id="rId18" Type="http://schemas.openxmlformats.org/officeDocument/2006/relationships/hyperlink" Target="https://cloud.google.com/vpc/docs/overview" TargetMode="External"/><Relationship Id="rId7" Type="http://schemas.openxmlformats.org/officeDocument/2006/relationships/hyperlink" Target="https://cloud.google.com/vpc/docs/overview" TargetMode="External"/><Relationship Id="rId8" Type="http://schemas.openxmlformats.org/officeDocument/2006/relationships/hyperlink" Target="https://cloud.google.com/vpc/docs/overvie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usenix.org/system/files/conference/nsdi18/nsdi18-dalton.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ccr.sigcomm.org/online/files/p69-v38n2n-mckeown.pdf" TargetMode="External"/><Relationship Id="rId4" Type="http://schemas.openxmlformats.org/officeDocument/2006/relationships/hyperlink" Target="https://www.cse.wustl.edu/~jain/cse570-15/ftp/m_15ofl.pdf" TargetMode="External"/><Relationship Id="rId5" Type="http://schemas.openxmlformats.org/officeDocument/2006/relationships/hyperlink" Target="https://www.cse.wustl.edu/~jain/cse570-15/ftp/m_15ofl.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dpdk.org/" TargetMode="External"/><Relationship Id="rId4" Type="http://schemas.openxmlformats.org/officeDocument/2006/relationships/hyperlink" Target="https://prototype-kernel.readthedocs.io/en/latest/networking/XD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tcpdump.org/manpages/pcap-filter.7.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piazza.com/class/mkctevprups13o/post/172" TargetMode="External"/><Relationship Id="rId4" Type="http://schemas.openxmlformats.org/officeDocument/2006/relationships/hyperlink" Target="https://www.docker.com/products/docker-deskto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405300" y="1578400"/>
            <a:ext cx="5581800" cy="1930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Virtualized Networking (Andromeda)</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Leonidas Kontothanassis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the problem?</a:t>
            </a:r>
            <a:endParaRPr/>
          </a:p>
        </p:txBody>
      </p:sp>
      <p:pic>
        <p:nvPicPr>
          <p:cNvPr id="141" name="Google Shape;141;p14">
            <a:hlinkClick r:id="rId3"/>
          </p:cNvPr>
          <p:cNvPicPr preferRelativeResize="0"/>
          <p:nvPr/>
        </p:nvPicPr>
        <p:blipFill>
          <a:blip r:embed="rId4">
            <a:alphaModFix/>
          </a:blip>
          <a:stretch>
            <a:fillRect/>
          </a:stretch>
        </p:blipFill>
        <p:spPr>
          <a:xfrm>
            <a:off x="1173600" y="1046025"/>
            <a:ext cx="3225801" cy="3879525"/>
          </a:xfrm>
          <a:prstGeom prst="rect">
            <a:avLst/>
          </a:prstGeom>
          <a:noFill/>
          <a:ln>
            <a:noFill/>
          </a:ln>
        </p:spPr>
      </p:pic>
      <p:pic>
        <p:nvPicPr>
          <p:cNvPr id="142" name="Google Shape;142;p14">
            <a:hlinkClick r:id="rId5"/>
          </p:cNvPr>
          <p:cNvPicPr preferRelativeResize="0"/>
          <p:nvPr/>
        </p:nvPicPr>
        <p:blipFill>
          <a:blip r:embed="rId4">
            <a:alphaModFix/>
          </a:blip>
          <a:stretch>
            <a:fillRect/>
          </a:stretch>
        </p:blipFill>
        <p:spPr>
          <a:xfrm>
            <a:off x="5110600" y="1046025"/>
            <a:ext cx="3225801" cy="3879525"/>
          </a:xfrm>
          <a:prstGeom prst="rect">
            <a:avLst/>
          </a:prstGeom>
          <a:noFill/>
          <a:ln>
            <a:noFill/>
          </a:ln>
        </p:spPr>
      </p:pic>
      <p:sp>
        <p:nvSpPr>
          <p:cNvPr id="143" name="Google Shape;143;p14"/>
          <p:cNvSpPr txBox="1"/>
          <p:nvPr/>
        </p:nvSpPr>
        <p:spPr>
          <a:xfrm>
            <a:off x="3175625" y="966500"/>
            <a:ext cx="15438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My Network</a:t>
            </a:r>
            <a:endParaRPr>
              <a:solidFill>
                <a:schemeClr val="lt1"/>
              </a:solidFill>
              <a:latin typeface="Lato"/>
              <a:ea typeface="Lato"/>
              <a:cs typeface="Lato"/>
              <a:sym typeface="Lato"/>
            </a:endParaRPr>
          </a:p>
        </p:txBody>
      </p:sp>
      <p:sp>
        <p:nvSpPr>
          <p:cNvPr id="144" name="Google Shape;144;p14"/>
          <p:cNvSpPr txBox="1"/>
          <p:nvPr/>
        </p:nvSpPr>
        <p:spPr>
          <a:xfrm>
            <a:off x="7162600" y="966500"/>
            <a:ext cx="1543800" cy="2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Your network</a:t>
            </a:r>
            <a:endParaRPr>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It’s a big problem (#projects vs #customers)</a:t>
            </a:r>
            <a:endParaRPr/>
          </a:p>
        </p:txBody>
      </p:sp>
      <p:pic>
        <p:nvPicPr>
          <p:cNvPr id="150" name="Google Shape;150;p15">
            <a:hlinkClick r:id="rId3"/>
          </p:cNvPr>
          <p:cNvPicPr preferRelativeResize="0"/>
          <p:nvPr/>
        </p:nvPicPr>
        <p:blipFill>
          <a:blip r:embed="rId4">
            <a:alphaModFix/>
          </a:blip>
          <a:stretch>
            <a:fillRect/>
          </a:stretch>
        </p:blipFill>
        <p:spPr>
          <a:xfrm>
            <a:off x="1399525" y="1750975"/>
            <a:ext cx="969750" cy="1166276"/>
          </a:xfrm>
          <a:prstGeom prst="rect">
            <a:avLst/>
          </a:prstGeom>
          <a:noFill/>
          <a:ln>
            <a:noFill/>
          </a:ln>
        </p:spPr>
      </p:pic>
      <p:pic>
        <p:nvPicPr>
          <p:cNvPr id="151" name="Google Shape;151;p15">
            <a:hlinkClick r:id="rId5"/>
          </p:cNvPr>
          <p:cNvPicPr preferRelativeResize="0"/>
          <p:nvPr/>
        </p:nvPicPr>
        <p:blipFill>
          <a:blip r:embed="rId4">
            <a:alphaModFix/>
          </a:blip>
          <a:stretch>
            <a:fillRect/>
          </a:stretch>
        </p:blipFill>
        <p:spPr>
          <a:xfrm>
            <a:off x="1551925" y="1903375"/>
            <a:ext cx="969750" cy="1166276"/>
          </a:xfrm>
          <a:prstGeom prst="rect">
            <a:avLst/>
          </a:prstGeom>
          <a:noFill/>
          <a:ln>
            <a:noFill/>
          </a:ln>
        </p:spPr>
      </p:pic>
      <p:pic>
        <p:nvPicPr>
          <p:cNvPr id="152" name="Google Shape;152;p15">
            <a:hlinkClick r:id="rId6"/>
          </p:cNvPr>
          <p:cNvPicPr preferRelativeResize="0"/>
          <p:nvPr/>
        </p:nvPicPr>
        <p:blipFill>
          <a:blip r:embed="rId4">
            <a:alphaModFix/>
          </a:blip>
          <a:stretch>
            <a:fillRect/>
          </a:stretch>
        </p:blipFill>
        <p:spPr>
          <a:xfrm>
            <a:off x="1704325" y="2055775"/>
            <a:ext cx="969750" cy="1166276"/>
          </a:xfrm>
          <a:prstGeom prst="rect">
            <a:avLst/>
          </a:prstGeom>
          <a:noFill/>
          <a:ln>
            <a:noFill/>
          </a:ln>
        </p:spPr>
      </p:pic>
      <p:pic>
        <p:nvPicPr>
          <p:cNvPr id="153" name="Google Shape;153;p15">
            <a:hlinkClick r:id="rId7"/>
          </p:cNvPr>
          <p:cNvPicPr preferRelativeResize="0"/>
          <p:nvPr/>
        </p:nvPicPr>
        <p:blipFill>
          <a:blip r:embed="rId4">
            <a:alphaModFix/>
          </a:blip>
          <a:stretch>
            <a:fillRect/>
          </a:stretch>
        </p:blipFill>
        <p:spPr>
          <a:xfrm>
            <a:off x="1856725" y="2208175"/>
            <a:ext cx="969750" cy="1166276"/>
          </a:xfrm>
          <a:prstGeom prst="rect">
            <a:avLst/>
          </a:prstGeom>
          <a:noFill/>
          <a:ln>
            <a:noFill/>
          </a:ln>
        </p:spPr>
      </p:pic>
      <p:pic>
        <p:nvPicPr>
          <p:cNvPr id="154" name="Google Shape;154;p15">
            <a:hlinkClick r:id="rId8"/>
          </p:cNvPr>
          <p:cNvPicPr preferRelativeResize="0"/>
          <p:nvPr/>
        </p:nvPicPr>
        <p:blipFill>
          <a:blip r:embed="rId4">
            <a:alphaModFix/>
          </a:blip>
          <a:stretch>
            <a:fillRect/>
          </a:stretch>
        </p:blipFill>
        <p:spPr>
          <a:xfrm>
            <a:off x="2009125" y="2360575"/>
            <a:ext cx="969750" cy="1166276"/>
          </a:xfrm>
          <a:prstGeom prst="rect">
            <a:avLst/>
          </a:prstGeom>
          <a:noFill/>
          <a:ln>
            <a:noFill/>
          </a:ln>
        </p:spPr>
      </p:pic>
      <p:pic>
        <p:nvPicPr>
          <p:cNvPr id="155" name="Google Shape;155;p15">
            <a:hlinkClick r:id="rId9"/>
          </p:cNvPr>
          <p:cNvPicPr preferRelativeResize="0"/>
          <p:nvPr/>
        </p:nvPicPr>
        <p:blipFill>
          <a:blip r:embed="rId4">
            <a:alphaModFix/>
          </a:blip>
          <a:stretch>
            <a:fillRect/>
          </a:stretch>
        </p:blipFill>
        <p:spPr>
          <a:xfrm>
            <a:off x="2161525" y="2512975"/>
            <a:ext cx="969750" cy="1166276"/>
          </a:xfrm>
          <a:prstGeom prst="rect">
            <a:avLst/>
          </a:prstGeom>
          <a:noFill/>
          <a:ln>
            <a:noFill/>
          </a:ln>
        </p:spPr>
      </p:pic>
      <p:pic>
        <p:nvPicPr>
          <p:cNvPr id="156" name="Google Shape;156;p15">
            <a:hlinkClick r:id="rId10"/>
          </p:cNvPr>
          <p:cNvPicPr preferRelativeResize="0"/>
          <p:nvPr/>
        </p:nvPicPr>
        <p:blipFill>
          <a:blip r:embed="rId4">
            <a:alphaModFix/>
          </a:blip>
          <a:stretch>
            <a:fillRect/>
          </a:stretch>
        </p:blipFill>
        <p:spPr>
          <a:xfrm>
            <a:off x="3384475" y="1750975"/>
            <a:ext cx="969750" cy="1166276"/>
          </a:xfrm>
          <a:prstGeom prst="rect">
            <a:avLst/>
          </a:prstGeom>
          <a:noFill/>
          <a:ln>
            <a:noFill/>
          </a:ln>
        </p:spPr>
      </p:pic>
      <p:pic>
        <p:nvPicPr>
          <p:cNvPr id="157" name="Google Shape;157;p15">
            <a:hlinkClick r:id="rId11"/>
          </p:cNvPr>
          <p:cNvPicPr preferRelativeResize="0"/>
          <p:nvPr/>
        </p:nvPicPr>
        <p:blipFill>
          <a:blip r:embed="rId4">
            <a:alphaModFix/>
          </a:blip>
          <a:stretch>
            <a:fillRect/>
          </a:stretch>
        </p:blipFill>
        <p:spPr>
          <a:xfrm>
            <a:off x="3536875" y="1903375"/>
            <a:ext cx="969750" cy="1166276"/>
          </a:xfrm>
          <a:prstGeom prst="rect">
            <a:avLst/>
          </a:prstGeom>
          <a:noFill/>
          <a:ln>
            <a:noFill/>
          </a:ln>
        </p:spPr>
      </p:pic>
      <p:pic>
        <p:nvPicPr>
          <p:cNvPr id="158" name="Google Shape;158;p15">
            <a:hlinkClick r:id="rId12"/>
          </p:cNvPr>
          <p:cNvPicPr preferRelativeResize="0"/>
          <p:nvPr/>
        </p:nvPicPr>
        <p:blipFill>
          <a:blip r:embed="rId4">
            <a:alphaModFix/>
          </a:blip>
          <a:stretch>
            <a:fillRect/>
          </a:stretch>
        </p:blipFill>
        <p:spPr>
          <a:xfrm>
            <a:off x="3689275" y="2055775"/>
            <a:ext cx="969750" cy="1166276"/>
          </a:xfrm>
          <a:prstGeom prst="rect">
            <a:avLst/>
          </a:prstGeom>
          <a:noFill/>
          <a:ln>
            <a:noFill/>
          </a:ln>
        </p:spPr>
      </p:pic>
      <p:pic>
        <p:nvPicPr>
          <p:cNvPr id="159" name="Google Shape;159;p15">
            <a:hlinkClick r:id="rId13"/>
          </p:cNvPr>
          <p:cNvPicPr preferRelativeResize="0"/>
          <p:nvPr/>
        </p:nvPicPr>
        <p:blipFill>
          <a:blip r:embed="rId4">
            <a:alphaModFix/>
          </a:blip>
          <a:stretch>
            <a:fillRect/>
          </a:stretch>
        </p:blipFill>
        <p:spPr>
          <a:xfrm>
            <a:off x="3841675" y="2208175"/>
            <a:ext cx="969750" cy="1166276"/>
          </a:xfrm>
          <a:prstGeom prst="rect">
            <a:avLst/>
          </a:prstGeom>
          <a:noFill/>
          <a:ln>
            <a:noFill/>
          </a:ln>
        </p:spPr>
      </p:pic>
      <p:pic>
        <p:nvPicPr>
          <p:cNvPr id="160" name="Google Shape;160;p15">
            <a:hlinkClick r:id="rId14"/>
          </p:cNvPr>
          <p:cNvPicPr preferRelativeResize="0"/>
          <p:nvPr/>
        </p:nvPicPr>
        <p:blipFill>
          <a:blip r:embed="rId4">
            <a:alphaModFix/>
          </a:blip>
          <a:stretch>
            <a:fillRect/>
          </a:stretch>
        </p:blipFill>
        <p:spPr>
          <a:xfrm>
            <a:off x="3994075" y="2360575"/>
            <a:ext cx="969750" cy="1166276"/>
          </a:xfrm>
          <a:prstGeom prst="rect">
            <a:avLst/>
          </a:prstGeom>
          <a:noFill/>
          <a:ln>
            <a:noFill/>
          </a:ln>
        </p:spPr>
      </p:pic>
      <p:pic>
        <p:nvPicPr>
          <p:cNvPr id="161" name="Google Shape;161;p15">
            <a:hlinkClick r:id="rId15"/>
          </p:cNvPr>
          <p:cNvPicPr preferRelativeResize="0"/>
          <p:nvPr/>
        </p:nvPicPr>
        <p:blipFill>
          <a:blip r:embed="rId4">
            <a:alphaModFix/>
          </a:blip>
          <a:stretch>
            <a:fillRect/>
          </a:stretch>
        </p:blipFill>
        <p:spPr>
          <a:xfrm>
            <a:off x="4146475" y="2512975"/>
            <a:ext cx="969750" cy="1166276"/>
          </a:xfrm>
          <a:prstGeom prst="rect">
            <a:avLst/>
          </a:prstGeom>
          <a:noFill/>
          <a:ln>
            <a:noFill/>
          </a:ln>
        </p:spPr>
      </p:pic>
      <p:pic>
        <p:nvPicPr>
          <p:cNvPr id="162" name="Google Shape;162;p15">
            <a:hlinkClick r:id="rId16"/>
          </p:cNvPr>
          <p:cNvPicPr preferRelativeResize="0"/>
          <p:nvPr/>
        </p:nvPicPr>
        <p:blipFill>
          <a:blip r:embed="rId4">
            <a:alphaModFix/>
          </a:blip>
          <a:stretch>
            <a:fillRect/>
          </a:stretch>
        </p:blipFill>
        <p:spPr>
          <a:xfrm>
            <a:off x="6741025" y="1903375"/>
            <a:ext cx="969750" cy="1166276"/>
          </a:xfrm>
          <a:prstGeom prst="rect">
            <a:avLst/>
          </a:prstGeom>
          <a:noFill/>
          <a:ln>
            <a:noFill/>
          </a:ln>
        </p:spPr>
      </p:pic>
      <p:pic>
        <p:nvPicPr>
          <p:cNvPr id="163" name="Google Shape;163;p15">
            <a:hlinkClick r:id="rId17"/>
          </p:cNvPr>
          <p:cNvPicPr preferRelativeResize="0"/>
          <p:nvPr/>
        </p:nvPicPr>
        <p:blipFill>
          <a:blip r:embed="rId4">
            <a:alphaModFix/>
          </a:blip>
          <a:stretch>
            <a:fillRect/>
          </a:stretch>
        </p:blipFill>
        <p:spPr>
          <a:xfrm>
            <a:off x="6893425" y="2055775"/>
            <a:ext cx="969750" cy="1166276"/>
          </a:xfrm>
          <a:prstGeom prst="rect">
            <a:avLst/>
          </a:prstGeom>
          <a:noFill/>
          <a:ln>
            <a:noFill/>
          </a:ln>
        </p:spPr>
      </p:pic>
      <p:pic>
        <p:nvPicPr>
          <p:cNvPr id="164" name="Google Shape;164;p15">
            <a:hlinkClick r:id="rId18"/>
          </p:cNvPr>
          <p:cNvPicPr preferRelativeResize="0"/>
          <p:nvPr/>
        </p:nvPicPr>
        <p:blipFill>
          <a:blip r:embed="rId4">
            <a:alphaModFix/>
          </a:blip>
          <a:stretch>
            <a:fillRect/>
          </a:stretch>
        </p:blipFill>
        <p:spPr>
          <a:xfrm>
            <a:off x="7045825" y="2208175"/>
            <a:ext cx="969750" cy="1166276"/>
          </a:xfrm>
          <a:prstGeom prst="rect">
            <a:avLst/>
          </a:prstGeom>
          <a:noFill/>
          <a:ln>
            <a:noFill/>
          </a:ln>
        </p:spPr>
      </p:pic>
      <p:pic>
        <p:nvPicPr>
          <p:cNvPr id="165" name="Google Shape;165;p15">
            <a:hlinkClick r:id="rId19"/>
          </p:cNvPr>
          <p:cNvPicPr preferRelativeResize="0"/>
          <p:nvPr/>
        </p:nvPicPr>
        <p:blipFill>
          <a:blip r:embed="rId4">
            <a:alphaModFix/>
          </a:blip>
          <a:stretch>
            <a:fillRect/>
          </a:stretch>
        </p:blipFill>
        <p:spPr>
          <a:xfrm>
            <a:off x="7198225" y="2360575"/>
            <a:ext cx="969750" cy="1166276"/>
          </a:xfrm>
          <a:prstGeom prst="rect">
            <a:avLst/>
          </a:prstGeom>
          <a:noFill/>
          <a:ln>
            <a:noFill/>
          </a:ln>
        </p:spPr>
      </p:pic>
      <p:pic>
        <p:nvPicPr>
          <p:cNvPr id="166" name="Google Shape;166;p15">
            <a:hlinkClick r:id="rId20"/>
          </p:cNvPr>
          <p:cNvPicPr preferRelativeResize="0"/>
          <p:nvPr/>
        </p:nvPicPr>
        <p:blipFill>
          <a:blip r:embed="rId4">
            <a:alphaModFix/>
          </a:blip>
          <a:stretch>
            <a:fillRect/>
          </a:stretch>
        </p:blipFill>
        <p:spPr>
          <a:xfrm>
            <a:off x="7350625" y="2512975"/>
            <a:ext cx="969750" cy="1166276"/>
          </a:xfrm>
          <a:prstGeom prst="rect">
            <a:avLst/>
          </a:prstGeom>
          <a:noFill/>
          <a:ln>
            <a:noFill/>
          </a:ln>
        </p:spPr>
      </p:pic>
      <p:pic>
        <p:nvPicPr>
          <p:cNvPr id="167" name="Google Shape;167;p15">
            <a:hlinkClick r:id="rId21"/>
          </p:cNvPr>
          <p:cNvPicPr preferRelativeResize="0"/>
          <p:nvPr/>
        </p:nvPicPr>
        <p:blipFill>
          <a:blip r:embed="rId4">
            <a:alphaModFix/>
          </a:blip>
          <a:stretch>
            <a:fillRect/>
          </a:stretch>
        </p:blipFill>
        <p:spPr>
          <a:xfrm>
            <a:off x="7503025" y="2665375"/>
            <a:ext cx="969750" cy="1166276"/>
          </a:xfrm>
          <a:prstGeom prst="rect">
            <a:avLst/>
          </a:prstGeom>
          <a:noFill/>
          <a:ln>
            <a:noFill/>
          </a:ln>
        </p:spPr>
      </p:pic>
      <p:sp>
        <p:nvSpPr>
          <p:cNvPr id="168" name="Google Shape;168;p15"/>
          <p:cNvSpPr txBox="1"/>
          <p:nvPr/>
        </p:nvSpPr>
        <p:spPr>
          <a:xfrm>
            <a:off x="1134900" y="4012900"/>
            <a:ext cx="6874200" cy="9141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You could have &gt;1,000,000 VMs in a DC with &gt;10 million routes</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Assume 100K projects, 10 VMs/projects with 100 active routes/project and you can see the scale of the problem.</a:t>
            </a:r>
            <a:endParaRPr sz="13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the problem</a:t>
            </a:r>
            <a:endParaRPr/>
          </a:p>
        </p:txBody>
      </p:sp>
      <p:sp>
        <p:nvSpPr>
          <p:cNvPr id="174" name="Google Shape;17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Performance isolation</a:t>
            </a:r>
            <a:endParaRPr/>
          </a:p>
          <a:p>
            <a:pPr indent="-381000" lvl="0" marL="457200" rtl="0" algn="l">
              <a:spcBef>
                <a:spcPts val="0"/>
              </a:spcBef>
              <a:spcAft>
                <a:spcPts val="0"/>
              </a:spcAft>
              <a:buSzPts val="2400"/>
              <a:buChar char="●"/>
            </a:pPr>
            <a:r>
              <a:rPr lang="en"/>
              <a:t>Scalability</a:t>
            </a:r>
            <a:endParaRPr/>
          </a:p>
          <a:p>
            <a:pPr indent="-381000" lvl="0" marL="457200" rtl="0" algn="l">
              <a:spcBef>
                <a:spcPts val="0"/>
              </a:spcBef>
              <a:spcAft>
                <a:spcPts val="0"/>
              </a:spcAft>
              <a:buSzPts val="2400"/>
              <a:buChar char="●"/>
            </a:pPr>
            <a:r>
              <a:rPr lang="en"/>
              <a:t>Rapid provisioning of hosts and subnets</a:t>
            </a:r>
            <a:endParaRPr/>
          </a:p>
          <a:p>
            <a:pPr indent="-381000" lvl="0" marL="457200" rtl="0" algn="l">
              <a:spcBef>
                <a:spcPts val="0"/>
              </a:spcBef>
              <a:spcAft>
                <a:spcPts val="0"/>
              </a:spcAft>
              <a:buSzPts val="2400"/>
              <a:buChar char="●"/>
            </a:pPr>
            <a:r>
              <a:rPr lang="en"/>
              <a:t>Hardware level latency and bandwidth</a:t>
            </a:r>
            <a:endParaRPr/>
          </a:p>
          <a:p>
            <a:pPr indent="-381000" lvl="0" marL="457200" rtl="0" algn="l">
              <a:spcBef>
                <a:spcPts val="0"/>
              </a:spcBef>
              <a:spcAft>
                <a:spcPts val="0"/>
              </a:spcAft>
              <a:buSzPts val="2400"/>
              <a:buChar char="●"/>
            </a:pPr>
            <a:r>
              <a:rPr lang="en"/>
              <a:t>High availability and development velocity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concepts</a:t>
            </a:r>
            <a:endParaRPr/>
          </a:p>
        </p:txBody>
      </p:sp>
      <p:sp>
        <p:nvSpPr>
          <p:cNvPr id="180" name="Google Shape;180;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10000"/>
          </a:bodyPr>
          <a:lstStyle/>
          <a:p>
            <a:pPr indent="-369570" lvl="0" marL="457200" rtl="0" algn="l">
              <a:spcBef>
                <a:spcPts val="0"/>
              </a:spcBef>
              <a:spcAft>
                <a:spcPts val="0"/>
              </a:spcAft>
              <a:buSzPct val="100000"/>
              <a:buChar char="●"/>
            </a:pPr>
            <a:r>
              <a:rPr lang="en"/>
              <a:t>Programmable Data Plane with direct connectivity for the few high bandwidth communication flows</a:t>
            </a:r>
            <a:endParaRPr/>
          </a:p>
          <a:p>
            <a:pPr indent="-369570" lvl="0" marL="457200" rtl="0" algn="l">
              <a:spcBef>
                <a:spcPts val="0"/>
              </a:spcBef>
              <a:spcAft>
                <a:spcPts val="0"/>
              </a:spcAft>
              <a:buSzPct val="100000"/>
              <a:buChar char="●"/>
            </a:pPr>
            <a:r>
              <a:rPr lang="en"/>
              <a:t>Gateways for long tail of low bandwidth flows</a:t>
            </a:r>
            <a:endParaRPr/>
          </a:p>
          <a:p>
            <a:pPr indent="-369570" lvl="0" marL="457200" rtl="0" algn="l">
              <a:spcBef>
                <a:spcPts val="0"/>
              </a:spcBef>
              <a:spcAft>
                <a:spcPts val="0"/>
              </a:spcAft>
              <a:buSzPct val="100000"/>
              <a:buChar char="●"/>
            </a:pPr>
            <a:r>
              <a:rPr lang="en"/>
              <a:t>Coprocessors for functionality that is expensive and/or not related to packet forwarding</a:t>
            </a:r>
            <a:endParaRPr/>
          </a:p>
          <a:p>
            <a:pPr indent="-334328" lvl="1" marL="914400" rtl="0" algn="l">
              <a:spcBef>
                <a:spcPts val="0"/>
              </a:spcBef>
              <a:spcAft>
                <a:spcPts val="0"/>
              </a:spcAft>
              <a:buSzPct val="100000"/>
              <a:buChar char="○"/>
            </a:pPr>
            <a:r>
              <a:rPr lang="en"/>
              <a:t>Packet encryption, processing of network samples for security, DoS etc…</a:t>
            </a:r>
            <a:endParaRPr/>
          </a:p>
          <a:p>
            <a:pPr indent="-369570" lvl="0" marL="457200" rtl="0" algn="l">
              <a:spcBef>
                <a:spcPts val="0"/>
              </a:spcBef>
              <a:spcAft>
                <a:spcPts val="0"/>
              </a:spcAft>
              <a:buSzPct val="100000"/>
              <a:buChar char="●"/>
            </a:pPr>
            <a:r>
              <a:rPr lang="en" u="sng">
                <a:solidFill>
                  <a:schemeClr val="hlink"/>
                </a:solidFill>
                <a:hlinkClick r:id="rId3"/>
              </a:rPr>
              <a:t>The Andromeda paper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 (OpenFlow and SDN)</a:t>
            </a:r>
            <a:endParaRPr/>
          </a:p>
        </p:txBody>
      </p:sp>
      <p:sp>
        <p:nvSpPr>
          <p:cNvPr id="186" name="Google Shape;186;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62500" lnSpcReduction="20000"/>
          </a:bodyPr>
          <a:lstStyle/>
          <a:p>
            <a:pPr indent="-323850" lvl="0" marL="457200" rtl="0" algn="l">
              <a:spcBef>
                <a:spcPts val="0"/>
              </a:spcBef>
              <a:spcAft>
                <a:spcPts val="0"/>
              </a:spcAft>
              <a:buSzPct val="100000"/>
              <a:buChar char="●"/>
            </a:pPr>
            <a:r>
              <a:rPr lang="en"/>
              <a:t>Data Plane: All activities related to direct packet management</a:t>
            </a:r>
            <a:endParaRPr/>
          </a:p>
          <a:p>
            <a:pPr indent="-300038" lvl="1" marL="914400" rtl="0" algn="l">
              <a:spcBef>
                <a:spcPts val="0"/>
              </a:spcBef>
              <a:spcAft>
                <a:spcPts val="0"/>
              </a:spcAft>
              <a:buSzPct val="100000"/>
              <a:buChar char="○"/>
            </a:pPr>
            <a:r>
              <a:rPr lang="en"/>
              <a:t>Forwarding</a:t>
            </a:r>
            <a:endParaRPr/>
          </a:p>
          <a:p>
            <a:pPr indent="-300038" lvl="1" marL="914400" rtl="0" algn="l">
              <a:spcBef>
                <a:spcPts val="0"/>
              </a:spcBef>
              <a:spcAft>
                <a:spcPts val="0"/>
              </a:spcAft>
              <a:buSzPct val="100000"/>
              <a:buChar char="○"/>
            </a:pPr>
            <a:r>
              <a:rPr lang="en"/>
              <a:t>Fragmentation and </a:t>
            </a:r>
            <a:r>
              <a:rPr lang="en"/>
              <a:t>reassembly</a:t>
            </a:r>
            <a:endParaRPr/>
          </a:p>
          <a:p>
            <a:pPr indent="-300038" lvl="1" marL="914400" rtl="0" algn="l">
              <a:spcBef>
                <a:spcPts val="0"/>
              </a:spcBef>
              <a:spcAft>
                <a:spcPts val="0"/>
              </a:spcAft>
              <a:buSzPct val="100000"/>
              <a:buChar char="○"/>
            </a:pPr>
            <a:r>
              <a:rPr lang="en"/>
              <a:t>Replication for multicasting</a:t>
            </a:r>
            <a:endParaRPr/>
          </a:p>
          <a:p>
            <a:pPr indent="-323850" lvl="0" marL="457200" rtl="0" algn="l">
              <a:spcBef>
                <a:spcPts val="0"/>
              </a:spcBef>
              <a:spcAft>
                <a:spcPts val="0"/>
              </a:spcAft>
              <a:buSzPct val="100000"/>
              <a:buChar char="●"/>
            </a:pPr>
            <a:r>
              <a:rPr lang="en"/>
              <a:t>Control Plane: All other packet related activities</a:t>
            </a:r>
            <a:endParaRPr/>
          </a:p>
          <a:p>
            <a:pPr indent="-300038" lvl="1" marL="914400" rtl="0" algn="l">
              <a:spcBef>
                <a:spcPts val="0"/>
              </a:spcBef>
              <a:spcAft>
                <a:spcPts val="0"/>
              </a:spcAft>
              <a:buSzPct val="100000"/>
              <a:buChar char="○"/>
            </a:pPr>
            <a:r>
              <a:rPr lang="en"/>
              <a:t>Making routing tables</a:t>
            </a:r>
            <a:endParaRPr/>
          </a:p>
          <a:p>
            <a:pPr indent="-300038" lvl="1" marL="914400" rtl="0" algn="l">
              <a:spcBef>
                <a:spcPts val="0"/>
              </a:spcBef>
              <a:spcAft>
                <a:spcPts val="0"/>
              </a:spcAft>
              <a:buSzPct val="100000"/>
              <a:buChar char="○"/>
            </a:pPr>
            <a:r>
              <a:rPr lang="en"/>
              <a:t>Setting </a:t>
            </a:r>
            <a:r>
              <a:rPr lang="en"/>
              <a:t>packet</a:t>
            </a:r>
            <a:r>
              <a:rPr lang="en"/>
              <a:t> handling policies (i.e. firewalls)</a:t>
            </a:r>
            <a:endParaRPr/>
          </a:p>
          <a:p>
            <a:pPr indent="-300038" lvl="1" marL="914400" rtl="0" algn="l">
              <a:spcBef>
                <a:spcPts val="0"/>
              </a:spcBef>
              <a:spcAft>
                <a:spcPts val="0"/>
              </a:spcAft>
              <a:buSzPct val="100000"/>
              <a:buChar char="○"/>
            </a:pPr>
            <a:r>
              <a:rPr lang="en"/>
              <a:t>Advertising services</a:t>
            </a:r>
            <a:endParaRPr/>
          </a:p>
          <a:p>
            <a:pPr indent="-323850" lvl="0" marL="457200" rtl="0" algn="l">
              <a:spcBef>
                <a:spcPts val="0"/>
              </a:spcBef>
              <a:spcAft>
                <a:spcPts val="0"/>
              </a:spcAft>
              <a:buSzPct val="100000"/>
              <a:buChar char="●"/>
            </a:pPr>
            <a:r>
              <a:rPr lang="en"/>
              <a:t>Management Plane (provisioning and monitoring)</a:t>
            </a:r>
            <a:endParaRPr/>
          </a:p>
          <a:p>
            <a:pPr indent="-300038" lvl="1" marL="914400" rtl="0" algn="l">
              <a:spcBef>
                <a:spcPts val="0"/>
              </a:spcBef>
              <a:spcAft>
                <a:spcPts val="0"/>
              </a:spcAft>
              <a:buSzPct val="100000"/>
              <a:buChar char="○"/>
            </a:pPr>
            <a:r>
              <a:rPr lang="en"/>
              <a:t>Add new devices</a:t>
            </a:r>
            <a:endParaRPr/>
          </a:p>
          <a:p>
            <a:pPr indent="-300038" lvl="1" marL="914400" rtl="0" algn="l">
              <a:spcBef>
                <a:spcPts val="0"/>
              </a:spcBef>
              <a:spcAft>
                <a:spcPts val="0"/>
              </a:spcAft>
              <a:buSzPct val="100000"/>
              <a:buChar char="○"/>
            </a:pPr>
            <a:r>
              <a:rPr lang="en"/>
              <a:t>Add new protocols</a:t>
            </a:r>
            <a:endParaRPr/>
          </a:p>
          <a:p>
            <a:pPr indent="-300038" lvl="1" marL="914400" rtl="0" algn="l">
              <a:spcBef>
                <a:spcPts val="0"/>
              </a:spcBef>
              <a:spcAft>
                <a:spcPts val="0"/>
              </a:spcAft>
              <a:buSzPct val="100000"/>
              <a:buChar char="○"/>
            </a:pPr>
            <a:r>
              <a:rPr lang="en"/>
              <a:t>Deal with faults, repairs etc. </a:t>
            </a:r>
            <a:endParaRPr/>
          </a:p>
          <a:p>
            <a:pPr indent="-323850" lvl="0" marL="457200" rtl="0" algn="l">
              <a:spcBef>
                <a:spcPts val="0"/>
              </a:spcBef>
              <a:spcAft>
                <a:spcPts val="0"/>
              </a:spcAft>
              <a:buSzPct val="100000"/>
              <a:buChar char="●"/>
            </a:pPr>
            <a:r>
              <a:rPr lang="en"/>
              <a:t>Services Plane (Value add ons, not always present)</a:t>
            </a:r>
            <a:endParaRPr/>
          </a:p>
          <a:p>
            <a:pPr indent="-300038" lvl="1" marL="914400" rtl="0" algn="l">
              <a:spcBef>
                <a:spcPts val="0"/>
              </a:spcBef>
              <a:spcAft>
                <a:spcPts val="0"/>
              </a:spcAft>
              <a:buSzPct val="100000"/>
              <a:buChar char="○"/>
            </a:pPr>
            <a:r>
              <a:rPr lang="en"/>
              <a:t>Proxies, Intrusion Detection, SSL offload 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OpenFlow Basics</a:t>
            </a:r>
            <a:endParaRPr/>
          </a:p>
        </p:txBody>
      </p:sp>
      <p:graphicFrame>
        <p:nvGraphicFramePr>
          <p:cNvPr id="192" name="Google Shape;192;p19"/>
          <p:cNvGraphicFramePr/>
          <p:nvPr/>
        </p:nvGraphicFramePr>
        <p:xfrm>
          <a:off x="2021500" y="1157565"/>
          <a:ext cx="3000000" cy="3000000"/>
        </p:xfrm>
        <a:graphic>
          <a:graphicData uri="http://schemas.openxmlformats.org/drawingml/2006/table">
            <a:tbl>
              <a:tblPr>
                <a:noFill/>
                <a:tableStyleId>{347F92DA-FB50-4766-94E9-29ECBFBDFDBE}</a:tableStyleId>
              </a:tblPr>
              <a:tblGrid>
                <a:gridCol w="1472625"/>
                <a:gridCol w="1472625"/>
                <a:gridCol w="1472625"/>
              </a:tblGrid>
              <a:tr h="331425">
                <a:tc>
                  <a:txBody>
                    <a:bodyPr/>
                    <a:lstStyle/>
                    <a:p>
                      <a:pPr indent="0" lvl="0" marL="0" rtl="0" algn="l">
                        <a:spcBef>
                          <a:spcPts val="0"/>
                        </a:spcBef>
                        <a:spcAft>
                          <a:spcPts val="0"/>
                        </a:spcAft>
                        <a:buNone/>
                      </a:pPr>
                      <a:r>
                        <a:rPr lang="en">
                          <a:solidFill>
                            <a:schemeClr val="lt1"/>
                          </a:solidFill>
                        </a:rPr>
                        <a:t>Header Fields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Counters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Actions</a:t>
                      </a:r>
                      <a:endParaRPr>
                        <a:solidFill>
                          <a:schemeClr val="lt1"/>
                        </a:solidFill>
                      </a:endParaRPr>
                    </a:p>
                  </a:txBody>
                  <a:tcPr marT="91425" marB="91425" marR="91425" marL="91425"/>
                </a:tc>
              </a:tr>
              <a:tr h="286900">
                <a:tc>
                  <a:txBody>
                    <a:bodyPr/>
                    <a:lstStyle/>
                    <a:p>
                      <a:pPr indent="0" lvl="0" marL="0" rtl="0" algn="l">
                        <a:spcBef>
                          <a:spcPts val="0"/>
                        </a:spcBef>
                        <a:spcAft>
                          <a:spcPts val="0"/>
                        </a:spcAft>
                        <a:buNone/>
                      </a:pPr>
                      <a:r>
                        <a:rPr lang="en">
                          <a:solidFill>
                            <a:schemeClr val="lt1"/>
                          </a:solidFill>
                        </a:rPr>
                        <a:t>Header Fields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Counters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Actions</a:t>
                      </a:r>
                      <a:endParaRPr>
                        <a:solidFill>
                          <a:schemeClr val="lt1"/>
                        </a:solidFill>
                      </a:endParaRPr>
                    </a:p>
                  </a:txBody>
                  <a:tcPr marT="91425" marB="91425" marR="91425" marL="91425"/>
                </a:tc>
              </a:tr>
              <a:tr h="286900">
                <a:tc>
                  <a:txBody>
                    <a:bodyPr/>
                    <a:lstStyle/>
                    <a:p>
                      <a:pPr indent="0" lvl="0" marL="0" rtl="0" algn="l">
                        <a:spcBef>
                          <a:spcPts val="0"/>
                        </a:spcBef>
                        <a:spcAft>
                          <a:spcPts val="0"/>
                        </a:spcAft>
                        <a:buNone/>
                      </a:pPr>
                      <a:r>
                        <a:rPr lang="en">
                          <a:solidFill>
                            <a:schemeClr val="lt1"/>
                          </a:solidFill>
                        </a:rPr>
                        <a: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t>
                      </a:r>
                      <a:endParaRPr>
                        <a:solidFill>
                          <a:schemeClr val="lt1"/>
                        </a:solidFill>
                      </a:endParaRPr>
                    </a:p>
                  </a:txBody>
                  <a:tcPr marT="91425" marB="91425" marR="91425" marL="91425"/>
                </a:tc>
              </a:tr>
              <a:tr h="286900">
                <a:tc>
                  <a:txBody>
                    <a:bodyPr/>
                    <a:lstStyle/>
                    <a:p>
                      <a:pPr indent="0" lvl="0" marL="0" rtl="0" algn="l">
                        <a:spcBef>
                          <a:spcPts val="0"/>
                        </a:spcBef>
                        <a:spcAft>
                          <a:spcPts val="0"/>
                        </a:spcAft>
                        <a:buNone/>
                      </a:pPr>
                      <a:r>
                        <a:rPr lang="en">
                          <a:solidFill>
                            <a:schemeClr val="lt1"/>
                          </a:solidFill>
                        </a:rPr>
                        <a:t>Header Fields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Counters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Actions</a:t>
                      </a:r>
                      <a:endParaRPr>
                        <a:solidFill>
                          <a:schemeClr val="lt1"/>
                        </a:solidFill>
                      </a:endParaRPr>
                    </a:p>
                  </a:txBody>
                  <a:tcPr marT="91425" marB="91425" marR="91425" marL="91425"/>
                </a:tc>
              </a:tr>
            </a:tbl>
          </a:graphicData>
        </a:graphic>
      </p:graphicFrame>
      <p:sp>
        <p:nvSpPr>
          <p:cNvPr id="193" name="Google Shape;193;p19"/>
          <p:cNvSpPr/>
          <p:nvPr/>
        </p:nvSpPr>
        <p:spPr>
          <a:xfrm>
            <a:off x="1228350" y="3148925"/>
            <a:ext cx="6687300" cy="65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txBox="1"/>
          <p:nvPr/>
        </p:nvSpPr>
        <p:spPr>
          <a:xfrm>
            <a:off x="1228350" y="3169425"/>
            <a:ext cx="751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Ingress Port</a:t>
            </a:r>
            <a:endParaRPr>
              <a:solidFill>
                <a:schemeClr val="lt1"/>
              </a:solidFill>
              <a:latin typeface="Lato"/>
              <a:ea typeface="Lato"/>
              <a:cs typeface="Lato"/>
              <a:sym typeface="Lato"/>
            </a:endParaRPr>
          </a:p>
        </p:txBody>
      </p:sp>
      <p:sp>
        <p:nvSpPr>
          <p:cNvPr id="195" name="Google Shape;195;p19"/>
          <p:cNvSpPr txBox="1"/>
          <p:nvPr/>
        </p:nvSpPr>
        <p:spPr>
          <a:xfrm>
            <a:off x="1878950" y="3169425"/>
            <a:ext cx="751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Ether Source</a:t>
            </a:r>
            <a:endParaRPr>
              <a:solidFill>
                <a:schemeClr val="lt1"/>
              </a:solidFill>
              <a:latin typeface="Lato"/>
              <a:ea typeface="Lato"/>
              <a:cs typeface="Lato"/>
              <a:sym typeface="Lato"/>
            </a:endParaRPr>
          </a:p>
        </p:txBody>
      </p:sp>
      <p:sp>
        <p:nvSpPr>
          <p:cNvPr id="196" name="Google Shape;196;p19"/>
          <p:cNvSpPr txBox="1"/>
          <p:nvPr/>
        </p:nvSpPr>
        <p:spPr>
          <a:xfrm>
            <a:off x="2503125" y="3169425"/>
            <a:ext cx="751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Ether</a:t>
            </a:r>
            <a:r>
              <a:rPr lang="en">
                <a:solidFill>
                  <a:schemeClr val="lt1"/>
                </a:solidFill>
                <a:latin typeface="Lato"/>
                <a:ea typeface="Lato"/>
                <a:cs typeface="Lato"/>
                <a:sym typeface="Lato"/>
              </a:rPr>
              <a:t> Dest</a:t>
            </a:r>
            <a:endParaRPr>
              <a:solidFill>
                <a:schemeClr val="lt1"/>
              </a:solidFill>
              <a:latin typeface="Lato"/>
              <a:ea typeface="Lato"/>
              <a:cs typeface="Lato"/>
              <a:sym typeface="Lato"/>
            </a:endParaRPr>
          </a:p>
        </p:txBody>
      </p:sp>
      <p:sp>
        <p:nvSpPr>
          <p:cNvPr id="197" name="Google Shape;197;p19"/>
          <p:cNvSpPr txBox="1"/>
          <p:nvPr/>
        </p:nvSpPr>
        <p:spPr>
          <a:xfrm>
            <a:off x="3106325" y="3172775"/>
            <a:ext cx="751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VLAN ID</a:t>
            </a:r>
            <a:endParaRPr>
              <a:solidFill>
                <a:schemeClr val="lt1"/>
              </a:solidFill>
              <a:latin typeface="Lato"/>
              <a:ea typeface="Lato"/>
              <a:cs typeface="Lato"/>
              <a:sym typeface="Lato"/>
            </a:endParaRPr>
          </a:p>
        </p:txBody>
      </p:sp>
      <p:sp>
        <p:nvSpPr>
          <p:cNvPr id="198" name="Google Shape;198;p19"/>
          <p:cNvSpPr txBox="1"/>
          <p:nvPr/>
        </p:nvSpPr>
        <p:spPr>
          <a:xfrm>
            <a:off x="3777900" y="3172775"/>
            <a:ext cx="751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VLAN Pri</a:t>
            </a:r>
            <a:endParaRPr>
              <a:solidFill>
                <a:schemeClr val="lt1"/>
              </a:solidFill>
              <a:latin typeface="Lato"/>
              <a:ea typeface="Lato"/>
              <a:cs typeface="Lato"/>
              <a:sym typeface="Lato"/>
            </a:endParaRPr>
          </a:p>
        </p:txBody>
      </p:sp>
      <p:sp>
        <p:nvSpPr>
          <p:cNvPr id="199" name="Google Shape;199;p19"/>
          <p:cNvSpPr txBox="1"/>
          <p:nvPr/>
        </p:nvSpPr>
        <p:spPr>
          <a:xfrm>
            <a:off x="4415225" y="3172775"/>
            <a:ext cx="535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IP Src</a:t>
            </a:r>
            <a:endParaRPr>
              <a:solidFill>
                <a:schemeClr val="lt1"/>
              </a:solidFill>
              <a:latin typeface="Lato"/>
              <a:ea typeface="Lato"/>
              <a:cs typeface="Lato"/>
              <a:sym typeface="Lato"/>
            </a:endParaRPr>
          </a:p>
        </p:txBody>
      </p:sp>
      <p:sp>
        <p:nvSpPr>
          <p:cNvPr id="200" name="Google Shape;200;p19"/>
          <p:cNvSpPr txBox="1"/>
          <p:nvPr/>
        </p:nvSpPr>
        <p:spPr>
          <a:xfrm>
            <a:off x="4802650" y="3169425"/>
            <a:ext cx="535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IP Dst</a:t>
            </a:r>
            <a:endParaRPr>
              <a:solidFill>
                <a:schemeClr val="lt1"/>
              </a:solidFill>
              <a:latin typeface="Lato"/>
              <a:ea typeface="Lato"/>
              <a:cs typeface="Lato"/>
              <a:sym typeface="Lato"/>
            </a:endParaRPr>
          </a:p>
        </p:txBody>
      </p:sp>
      <p:sp>
        <p:nvSpPr>
          <p:cNvPr id="201" name="Google Shape;201;p19"/>
          <p:cNvSpPr txBox="1"/>
          <p:nvPr/>
        </p:nvSpPr>
        <p:spPr>
          <a:xfrm>
            <a:off x="5143525" y="3169425"/>
            <a:ext cx="688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IP Proto</a:t>
            </a:r>
            <a:endParaRPr>
              <a:solidFill>
                <a:schemeClr val="lt1"/>
              </a:solidFill>
              <a:latin typeface="Lato"/>
              <a:ea typeface="Lato"/>
              <a:cs typeface="Lato"/>
              <a:sym typeface="Lato"/>
            </a:endParaRPr>
          </a:p>
        </p:txBody>
      </p:sp>
      <p:sp>
        <p:nvSpPr>
          <p:cNvPr id="202" name="Google Shape;202;p19"/>
          <p:cNvSpPr txBox="1"/>
          <p:nvPr/>
        </p:nvSpPr>
        <p:spPr>
          <a:xfrm>
            <a:off x="5739925" y="3172775"/>
            <a:ext cx="535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IP ToS</a:t>
            </a:r>
            <a:endParaRPr>
              <a:solidFill>
                <a:schemeClr val="lt1"/>
              </a:solidFill>
              <a:latin typeface="Lato"/>
              <a:ea typeface="Lato"/>
              <a:cs typeface="Lato"/>
              <a:sym typeface="Lato"/>
            </a:endParaRPr>
          </a:p>
        </p:txBody>
      </p:sp>
      <p:sp>
        <p:nvSpPr>
          <p:cNvPr id="203" name="Google Shape;203;p19"/>
          <p:cNvSpPr txBox="1"/>
          <p:nvPr/>
        </p:nvSpPr>
        <p:spPr>
          <a:xfrm>
            <a:off x="6283275" y="3172775"/>
            <a:ext cx="688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Src Ip Port</a:t>
            </a:r>
            <a:endParaRPr>
              <a:solidFill>
                <a:schemeClr val="lt1"/>
              </a:solidFill>
              <a:latin typeface="Lato"/>
              <a:ea typeface="Lato"/>
              <a:cs typeface="Lato"/>
              <a:sym typeface="Lato"/>
            </a:endParaRPr>
          </a:p>
        </p:txBody>
      </p:sp>
      <p:sp>
        <p:nvSpPr>
          <p:cNvPr id="204" name="Google Shape;204;p19"/>
          <p:cNvSpPr txBox="1"/>
          <p:nvPr/>
        </p:nvSpPr>
        <p:spPr>
          <a:xfrm>
            <a:off x="7064625" y="3172775"/>
            <a:ext cx="688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Dst</a:t>
            </a:r>
            <a:r>
              <a:rPr lang="en">
                <a:solidFill>
                  <a:schemeClr val="lt1"/>
                </a:solidFill>
                <a:latin typeface="Lato"/>
                <a:ea typeface="Lato"/>
                <a:cs typeface="Lato"/>
                <a:sym typeface="Lato"/>
              </a:rPr>
              <a:t> Ip Port</a:t>
            </a:r>
            <a:endParaRPr>
              <a:solidFill>
                <a:schemeClr val="lt1"/>
              </a:solidFill>
              <a:latin typeface="Lato"/>
              <a:ea typeface="Lato"/>
              <a:cs typeface="Lato"/>
              <a:sym typeface="Lato"/>
            </a:endParaRPr>
          </a:p>
        </p:txBody>
      </p:sp>
      <p:cxnSp>
        <p:nvCxnSpPr>
          <p:cNvPr id="205" name="Google Shape;205;p19"/>
          <p:cNvCxnSpPr/>
          <p:nvPr/>
        </p:nvCxnSpPr>
        <p:spPr>
          <a:xfrm>
            <a:off x="2711775" y="2752775"/>
            <a:ext cx="5211900" cy="39630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p19"/>
          <p:cNvCxnSpPr/>
          <p:nvPr/>
        </p:nvCxnSpPr>
        <p:spPr>
          <a:xfrm flipH="1">
            <a:off x="1215975" y="2752775"/>
            <a:ext cx="1495800" cy="396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OpenFlow Basics</a:t>
            </a:r>
            <a:endParaRPr/>
          </a:p>
        </p:txBody>
      </p:sp>
      <p:sp>
        <p:nvSpPr>
          <p:cNvPr id="212" name="Google Shape;212;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10000"/>
          </a:bodyPr>
          <a:lstStyle/>
          <a:p>
            <a:pPr indent="-358140" lvl="0" marL="457200" rtl="0" algn="l">
              <a:spcBef>
                <a:spcPts val="0"/>
              </a:spcBef>
              <a:spcAft>
                <a:spcPts val="0"/>
              </a:spcAft>
              <a:buSzPct val="100000"/>
              <a:buChar char="●"/>
            </a:pPr>
            <a:r>
              <a:rPr lang="en"/>
              <a:t>Supported by most switches today</a:t>
            </a:r>
            <a:endParaRPr/>
          </a:p>
          <a:p>
            <a:pPr indent="-358140" lvl="0" marL="457200" rtl="0" algn="l">
              <a:spcBef>
                <a:spcPts val="0"/>
              </a:spcBef>
              <a:spcAft>
                <a:spcPts val="0"/>
              </a:spcAft>
              <a:buSzPct val="100000"/>
              <a:buChar char="●"/>
            </a:pPr>
            <a:r>
              <a:rPr lang="en"/>
              <a:t>Requires central controller to program switch </a:t>
            </a:r>
            <a:r>
              <a:rPr lang="en"/>
              <a:t>policies</a:t>
            </a:r>
            <a:endParaRPr/>
          </a:p>
          <a:p>
            <a:pPr indent="-358140" lvl="0" marL="457200" rtl="0" algn="l">
              <a:spcBef>
                <a:spcPts val="0"/>
              </a:spcBef>
              <a:spcAft>
                <a:spcPts val="0"/>
              </a:spcAft>
              <a:buSzPct val="100000"/>
              <a:buChar char="●"/>
            </a:pPr>
            <a:r>
              <a:rPr lang="en"/>
              <a:t>Not a good fit for networks controlled by different entities (see BGP from earlier lecture)</a:t>
            </a:r>
            <a:endParaRPr/>
          </a:p>
          <a:p>
            <a:pPr indent="-358140" lvl="0" marL="457200" rtl="0" algn="l">
              <a:spcBef>
                <a:spcPts val="0"/>
              </a:spcBef>
              <a:spcAft>
                <a:spcPts val="0"/>
              </a:spcAft>
              <a:buSzPct val="100000"/>
              <a:buChar char="●"/>
            </a:pPr>
            <a:r>
              <a:rPr lang="en"/>
              <a:t>Open vSwitch the virtualized implementation of OpenFlow</a:t>
            </a:r>
            <a:endParaRPr/>
          </a:p>
          <a:p>
            <a:pPr indent="-358140" lvl="0" marL="457200" rtl="0" algn="l">
              <a:spcBef>
                <a:spcPts val="0"/>
              </a:spcBef>
              <a:spcAft>
                <a:spcPts val="0"/>
              </a:spcAft>
              <a:buSzPct val="100000"/>
              <a:buChar char="●"/>
            </a:pPr>
            <a:r>
              <a:rPr lang="en"/>
              <a:t>Seminal </a:t>
            </a:r>
            <a:r>
              <a:rPr lang="en" u="sng">
                <a:solidFill>
                  <a:schemeClr val="accent5"/>
                </a:solidFill>
                <a:hlinkClick r:id="rId3">
                  <a:extLst>
                    <a:ext uri="{A12FA001-AC4F-418D-AE19-62706E023703}">
                      <ahyp:hlinkClr val="tx"/>
                    </a:ext>
                  </a:extLst>
                </a:hlinkClick>
              </a:rPr>
              <a:t>paper</a:t>
            </a:r>
            <a:r>
              <a:rPr lang="en"/>
              <a:t> in 2008</a:t>
            </a:r>
            <a:endParaRPr/>
          </a:p>
          <a:p>
            <a:pPr indent="-358140" lvl="0" marL="457200" rtl="0" algn="l">
              <a:spcBef>
                <a:spcPts val="0"/>
              </a:spcBef>
              <a:spcAft>
                <a:spcPts val="0"/>
              </a:spcAft>
              <a:buSzPct val="100000"/>
              <a:buChar char="●"/>
            </a:pPr>
            <a:r>
              <a:rPr lang="en"/>
              <a:t>A pretty nice </a:t>
            </a:r>
            <a:r>
              <a:rPr lang="en" u="sng">
                <a:solidFill>
                  <a:schemeClr val="hlink"/>
                </a:solidFill>
                <a:hlinkClick r:id="rId4"/>
              </a:rPr>
              <a:t>presentation</a:t>
            </a:r>
            <a:endParaRPr/>
          </a:p>
        </p:txBody>
      </p:sp>
      <p:sp>
        <p:nvSpPr>
          <p:cNvPr id="213" name="Google Shape;213;p20"/>
          <p:cNvSpPr txBox="1"/>
          <p:nvPr/>
        </p:nvSpPr>
        <p:spPr>
          <a:xfrm>
            <a:off x="4176500" y="44316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5"/>
              </a:rPr>
              <a:t>Introduction to OpenFlow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Andromeda Data Plane</a:t>
            </a:r>
            <a:endParaRPr/>
          </a:p>
        </p:txBody>
      </p:sp>
      <p:sp>
        <p:nvSpPr>
          <p:cNvPr id="219" name="Google Shape;219;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10000"/>
          </a:bodyPr>
          <a:lstStyle/>
          <a:p>
            <a:pPr indent="-358140" lvl="0" marL="457200" rtl="0" algn="l">
              <a:spcBef>
                <a:spcPts val="0"/>
              </a:spcBef>
              <a:spcAft>
                <a:spcPts val="0"/>
              </a:spcAft>
              <a:buSzPct val="100000"/>
              <a:buChar char="●"/>
            </a:pPr>
            <a:r>
              <a:rPr lang="en"/>
              <a:t>Encapsulation</a:t>
            </a:r>
            <a:endParaRPr/>
          </a:p>
          <a:p>
            <a:pPr indent="-325755" lvl="1" marL="914400" rtl="0" algn="l">
              <a:spcBef>
                <a:spcPts val="0"/>
              </a:spcBef>
              <a:spcAft>
                <a:spcPts val="0"/>
              </a:spcAft>
              <a:buSzPct val="100000"/>
              <a:buChar char="○"/>
            </a:pPr>
            <a:r>
              <a:rPr lang="en"/>
              <a:t>Since all addresses are in 10.X.X.X space we need to know which project they belong to</a:t>
            </a:r>
            <a:endParaRPr/>
          </a:p>
          <a:p>
            <a:pPr indent="-325755" lvl="1" marL="914400" rtl="0" algn="l">
              <a:spcBef>
                <a:spcPts val="0"/>
              </a:spcBef>
              <a:spcAft>
                <a:spcPts val="0"/>
              </a:spcAft>
              <a:buSzPct val="100000"/>
              <a:buChar char="○"/>
            </a:pPr>
            <a:r>
              <a:rPr lang="en"/>
              <a:t>Use IP encapsulation</a:t>
            </a:r>
            <a:endParaRPr/>
          </a:p>
          <a:p>
            <a:pPr indent="-325755" lvl="1" marL="914400" rtl="0" algn="l">
              <a:spcBef>
                <a:spcPts val="0"/>
              </a:spcBef>
              <a:spcAft>
                <a:spcPts val="0"/>
              </a:spcAft>
              <a:buSzPct val="100000"/>
              <a:buChar char="○"/>
            </a:pPr>
            <a:r>
              <a:rPr lang="en"/>
              <a:t>Embed </a:t>
            </a:r>
            <a:r>
              <a:rPr lang="en"/>
              <a:t>the</a:t>
            </a:r>
            <a:r>
              <a:rPr lang="en"/>
              <a:t> IPv4 in IPv6.  Separate IPv6 prefix for each project so no conflict!</a:t>
            </a:r>
            <a:endParaRPr/>
          </a:p>
          <a:p>
            <a:pPr indent="-325755" lvl="1" marL="914400" rtl="0" algn="l">
              <a:spcBef>
                <a:spcPts val="0"/>
              </a:spcBef>
              <a:spcAft>
                <a:spcPts val="0"/>
              </a:spcAft>
              <a:buSzPct val="100000"/>
              <a:buChar char="○"/>
            </a:pPr>
            <a:r>
              <a:rPr lang="en"/>
              <a:t>The IPv4 becomes the lowest part of the IPv6</a:t>
            </a:r>
            <a:endParaRPr/>
          </a:p>
          <a:p>
            <a:pPr indent="-325755" lvl="1" marL="914400" rtl="0" algn="l">
              <a:spcBef>
                <a:spcPts val="0"/>
              </a:spcBef>
              <a:spcAft>
                <a:spcPts val="0"/>
              </a:spcAft>
              <a:buSzPct val="100000"/>
              <a:buChar char="○"/>
            </a:pPr>
            <a:r>
              <a:rPr lang="en"/>
              <a:t>The Hypervisor knows to strip it out and deliver to the kernel inside the VM</a:t>
            </a:r>
            <a:endParaRPr/>
          </a:p>
          <a:p>
            <a:pPr indent="-325755" lvl="1" marL="914400" rtl="0" algn="l">
              <a:spcBef>
                <a:spcPts val="0"/>
              </a:spcBef>
              <a:spcAft>
                <a:spcPts val="0"/>
              </a:spcAft>
              <a:buSzPct val="100000"/>
              <a:buChar char="○"/>
            </a:pPr>
            <a:r>
              <a:rPr lang="en"/>
              <a:t>There are other way of encapsulation like GRE, VXLAN, IPSec as well.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Andromeda Data Plane</a:t>
            </a:r>
            <a:endParaRPr/>
          </a:p>
        </p:txBody>
      </p:sp>
      <p:sp>
        <p:nvSpPr>
          <p:cNvPr id="225" name="Google Shape;225;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a:t>Fast path</a:t>
            </a:r>
            <a:endParaRPr/>
          </a:p>
          <a:p>
            <a:pPr indent="-342900" lvl="1" marL="914400" rtl="0" algn="l">
              <a:spcBef>
                <a:spcPts val="0"/>
              </a:spcBef>
              <a:spcAft>
                <a:spcPts val="0"/>
              </a:spcAft>
              <a:buSzPts val="1800"/>
              <a:buChar char="○"/>
            </a:pPr>
            <a:r>
              <a:rPr lang="en"/>
              <a:t>Examine if packet belongs to fast path flows</a:t>
            </a:r>
            <a:endParaRPr/>
          </a:p>
          <a:p>
            <a:pPr indent="-342900" lvl="1" marL="914400" rtl="0" algn="l">
              <a:spcBef>
                <a:spcPts val="0"/>
              </a:spcBef>
              <a:spcAft>
                <a:spcPts val="0"/>
              </a:spcAft>
              <a:buSzPts val="1800"/>
              <a:buChar char="○"/>
            </a:pPr>
            <a:r>
              <a:rPr lang="en"/>
              <a:t>Forward packets for non-fast path flows to gateways called Hoverboards</a:t>
            </a:r>
            <a:endParaRPr/>
          </a:p>
          <a:p>
            <a:pPr indent="-342900" lvl="1" marL="914400" rtl="0" algn="l">
              <a:spcBef>
                <a:spcPts val="0"/>
              </a:spcBef>
              <a:spcAft>
                <a:spcPts val="0"/>
              </a:spcAft>
              <a:buSzPts val="1800"/>
              <a:buChar char="○"/>
            </a:pPr>
            <a:r>
              <a:rPr lang="en"/>
              <a:t>Processing of fast path packets not related to forwarding delegated to co-processors (accounting and counter)</a:t>
            </a:r>
            <a:endParaRPr/>
          </a:p>
          <a:p>
            <a:pPr indent="-342900" lvl="1" marL="914400" rtl="0" algn="l">
              <a:spcBef>
                <a:spcPts val="0"/>
              </a:spcBef>
              <a:spcAft>
                <a:spcPts val="0"/>
              </a:spcAft>
              <a:buSzPts val="1800"/>
              <a:buChar char="○"/>
            </a:pPr>
            <a:r>
              <a:rPr lang="en"/>
              <a:t>300 nsecs per packet budget!</a:t>
            </a:r>
            <a:endParaRPr/>
          </a:p>
          <a:p>
            <a:pPr indent="-342900" lvl="1" marL="914400" rtl="0" algn="l">
              <a:spcBef>
                <a:spcPts val="0"/>
              </a:spcBef>
              <a:spcAft>
                <a:spcPts val="0"/>
              </a:spcAft>
              <a:buSzPts val="1800"/>
              <a:buChar char="○"/>
            </a:pPr>
            <a:r>
              <a:rPr lang="en"/>
              <a:t>For N VMs there are N^2 flows.  Only a tiny fraction of those have need for fast path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Plane Design</a:t>
            </a:r>
            <a:endParaRPr/>
          </a:p>
        </p:txBody>
      </p:sp>
      <p:sp>
        <p:nvSpPr>
          <p:cNvPr id="231" name="Google Shape;231;p23"/>
          <p:cNvSpPr txBox="1"/>
          <p:nvPr>
            <p:ph idx="1" type="body"/>
          </p:nvPr>
        </p:nvSpPr>
        <p:spPr>
          <a:xfrm>
            <a:off x="266075" y="1533400"/>
            <a:ext cx="4221600" cy="3109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Fast paths maintains cache of forwarding state and packet processing logic</a:t>
            </a:r>
            <a:endParaRPr/>
          </a:p>
          <a:p>
            <a:pPr indent="-381000" lvl="0" marL="457200" rtl="0" algn="l">
              <a:spcBef>
                <a:spcPts val="0"/>
              </a:spcBef>
              <a:spcAft>
                <a:spcPts val="0"/>
              </a:spcAft>
              <a:buSzPts val="2400"/>
              <a:buChar char="●"/>
            </a:pPr>
            <a:r>
              <a:rPr lang="en"/>
              <a:t>On a miss, packet is sent to vswitchd which can update fast path state and re-inject packet</a:t>
            </a:r>
            <a:endParaRPr/>
          </a:p>
        </p:txBody>
      </p:sp>
      <p:pic>
        <p:nvPicPr>
          <p:cNvPr id="232" name="Google Shape;232;p23"/>
          <p:cNvPicPr preferRelativeResize="0"/>
          <p:nvPr/>
        </p:nvPicPr>
        <p:blipFill>
          <a:blip r:embed="rId3">
            <a:alphaModFix/>
          </a:blip>
          <a:stretch>
            <a:fillRect/>
          </a:stretch>
        </p:blipFill>
        <p:spPr>
          <a:xfrm>
            <a:off x="4701750" y="1111875"/>
            <a:ext cx="4057725" cy="3530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Flow Table</a:t>
            </a:r>
            <a:endParaRPr/>
          </a:p>
        </p:txBody>
      </p:sp>
      <p:sp>
        <p:nvSpPr>
          <p:cNvPr id="238" name="Google Shape;238;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Avoid complicated data structures (use arrays as much as possible).  One has lookup from map flow keys to flow indices</a:t>
            </a:r>
            <a:endParaRPr/>
          </a:p>
          <a:p>
            <a:pPr indent="-381000" lvl="0" marL="457200" rtl="0" algn="l">
              <a:spcBef>
                <a:spcPts val="0"/>
              </a:spcBef>
              <a:spcAft>
                <a:spcPts val="0"/>
              </a:spcAft>
              <a:buSzPts val="2400"/>
              <a:buChar char="●"/>
            </a:pPr>
            <a:r>
              <a:rPr lang="en"/>
              <a:t>Updates never in place</a:t>
            </a:r>
            <a:endParaRPr/>
          </a:p>
          <a:p>
            <a:pPr indent="-342900" lvl="1" marL="914400" rtl="0" algn="l">
              <a:spcBef>
                <a:spcPts val="0"/>
              </a:spcBef>
              <a:spcAft>
                <a:spcPts val="0"/>
              </a:spcAft>
              <a:buSzPts val="1800"/>
              <a:buChar char="○"/>
            </a:pPr>
            <a:r>
              <a:rPr lang="en"/>
              <a:t>Make new Flow Table with relevant information and atomically swap pointers from old to new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Andromeda Control Plane</a:t>
            </a:r>
            <a:endParaRPr/>
          </a:p>
        </p:txBody>
      </p:sp>
      <p:sp>
        <p:nvSpPr>
          <p:cNvPr id="244" name="Google Shape;244;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369570" lvl="0" marL="457200" rtl="0" algn="l">
              <a:spcBef>
                <a:spcPts val="0"/>
              </a:spcBef>
              <a:spcAft>
                <a:spcPts val="0"/>
              </a:spcAft>
              <a:buSzPct val="100000"/>
              <a:buChar char="●"/>
            </a:pPr>
            <a:r>
              <a:rPr lang="en"/>
              <a:t>Fabric Management Layer</a:t>
            </a:r>
            <a:endParaRPr/>
          </a:p>
          <a:p>
            <a:pPr indent="-334328" lvl="1" marL="914400" rtl="0" algn="l">
              <a:spcBef>
                <a:spcPts val="0"/>
              </a:spcBef>
              <a:spcAft>
                <a:spcPts val="0"/>
              </a:spcAft>
              <a:buSzPct val="100000"/>
              <a:buChar char="○"/>
            </a:pPr>
            <a:r>
              <a:rPr lang="en"/>
              <a:t>Handles the aggregate configuration for a cluster</a:t>
            </a:r>
            <a:endParaRPr/>
          </a:p>
          <a:p>
            <a:pPr indent="-334328" lvl="1" marL="914400" rtl="0" algn="l">
              <a:spcBef>
                <a:spcPts val="0"/>
              </a:spcBef>
              <a:spcAft>
                <a:spcPts val="0"/>
              </a:spcAft>
              <a:buSzPct val="100000"/>
              <a:buChar char="○"/>
            </a:pPr>
            <a:r>
              <a:rPr lang="en"/>
              <a:t>Delegates to VM and LB controllers actual instruction of what to configure</a:t>
            </a:r>
            <a:endParaRPr/>
          </a:p>
          <a:p>
            <a:pPr indent="-334328" lvl="1" marL="914400" rtl="0" algn="l">
              <a:spcBef>
                <a:spcPts val="0"/>
              </a:spcBef>
              <a:spcAft>
                <a:spcPts val="0"/>
              </a:spcAft>
              <a:buSzPct val="100000"/>
              <a:buChar char="○"/>
            </a:pPr>
            <a:r>
              <a:rPr lang="en"/>
              <a:t>VM and LB controllers talk to </a:t>
            </a:r>
            <a:r>
              <a:rPr b="1" lang="en"/>
              <a:t>VM host</a:t>
            </a:r>
            <a:r>
              <a:rPr lang="en"/>
              <a:t> switches to install rules</a:t>
            </a:r>
            <a:endParaRPr/>
          </a:p>
          <a:p>
            <a:pPr indent="-369570" lvl="0" marL="457200" rtl="0" algn="l">
              <a:spcBef>
                <a:spcPts val="0"/>
              </a:spcBef>
              <a:spcAft>
                <a:spcPts val="0"/>
              </a:spcAft>
              <a:buSzPct val="100000"/>
              <a:buChar char="●"/>
            </a:pPr>
            <a:r>
              <a:rPr lang="en"/>
              <a:t>Switch Layer</a:t>
            </a:r>
            <a:endParaRPr/>
          </a:p>
          <a:p>
            <a:pPr indent="-334328" lvl="1" marL="914400" rtl="0" algn="l">
              <a:spcBef>
                <a:spcPts val="0"/>
              </a:spcBef>
              <a:spcAft>
                <a:spcPts val="0"/>
              </a:spcAft>
              <a:buSzPct val="100000"/>
              <a:buChar char="○"/>
            </a:pPr>
            <a:r>
              <a:rPr lang="en"/>
              <a:t>Base on Open vSwitch receives programming from FM and applies OpenFlow to program the datapath</a:t>
            </a:r>
            <a:endParaRPr/>
          </a:p>
          <a:p>
            <a:pPr indent="-334328" lvl="1" marL="914400" rtl="0" algn="l">
              <a:spcBef>
                <a:spcPts val="0"/>
              </a:spcBef>
              <a:spcAft>
                <a:spcPts val="0"/>
              </a:spcAft>
              <a:buSzPct val="100000"/>
              <a:buChar char="○"/>
            </a:pPr>
            <a:r>
              <a:rPr lang="en"/>
              <a:t>Additional functionality added for billing, security, sticky load balancing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 Programming Paradigms</a:t>
            </a:r>
            <a:endParaRPr/>
          </a:p>
        </p:txBody>
      </p:sp>
      <p:sp>
        <p:nvSpPr>
          <p:cNvPr id="250" name="Google Shape;250;p26"/>
          <p:cNvSpPr txBox="1"/>
          <p:nvPr>
            <p:ph idx="1" type="body"/>
          </p:nvPr>
        </p:nvSpPr>
        <p:spPr>
          <a:xfrm>
            <a:off x="1297500" y="1643750"/>
            <a:ext cx="7038900" cy="2911200"/>
          </a:xfrm>
          <a:prstGeom prst="rect">
            <a:avLst/>
          </a:prstGeom>
        </p:spPr>
        <p:txBody>
          <a:bodyPr anchorCtr="0" anchor="t" bIns="91425" lIns="91425" spcFirstLastPara="1" rIns="91425" wrap="square" tIns="91425">
            <a:normAutofit fontScale="62500" lnSpcReduction="20000"/>
          </a:bodyPr>
          <a:lstStyle/>
          <a:p>
            <a:pPr indent="-323850" lvl="0" marL="457200" rtl="0" algn="l">
              <a:spcBef>
                <a:spcPts val="0"/>
              </a:spcBef>
              <a:spcAft>
                <a:spcPts val="0"/>
              </a:spcAft>
              <a:buSzPct val="100000"/>
              <a:buChar char="●"/>
            </a:pPr>
            <a:r>
              <a:rPr lang="en"/>
              <a:t>Preprogrammed model</a:t>
            </a:r>
            <a:endParaRPr/>
          </a:p>
          <a:p>
            <a:pPr indent="-300038" lvl="1" marL="914400" rtl="0" algn="l">
              <a:spcBef>
                <a:spcPts val="0"/>
              </a:spcBef>
              <a:spcAft>
                <a:spcPts val="0"/>
              </a:spcAft>
              <a:buSzPct val="100000"/>
              <a:buChar char="○"/>
            </a:pPr>
            <a:r>
              <a:rPr lang="en"/>
              <a:t>Consistent predictable performance</a:t>
            </a:r>
            <a:endParaRPr/>
          </a:p>
          <a:p>
            <a:pPr indent="-300038" lvl="1" marL="914400" rtl="0" algn="l">
              <a:spcBef>
                <a:spcPts val="0"/>
              </a:spcBef>
              <a:spcAft>
                <a:spcPts val="0"/>
              </a:spcAft>
              <a:buSzPct val="100000"/>
              <a:buChar char="○"/>
            </a:pPr>
            <a:r>
              <a:rPr lang="en"/>
              <a:t>Doesn’t scale (N^2 on number of hosts)</a:t>
            </a:r>
            <a:endParaRPr/>
          </a:p>
          <a:p>
            <a:pPr indent="-300038" lvl="1" marL="914400" rtl="0" algn="l">
              <a:spcBef>
                <a:spcPts val="0"/>
              </a:spcBef>
              <a:spcAft>
                <a:spcPts val="0"/>
              </a:spcAft>
              <a:buSzPct val="100000"/>
              <a:buChar char="○"/>
            </a:pPr>
            <a:r>
              <a:rPr lang="en"/>
              <a:t>Changes in topology require large updates</a:t>
            </a:r>
            <a:endParaRPr/>
          </a:p>
          <a:p>
            <a:pPr indent="-323850" lvl="0" marL="457200" rtl="0" algn="l">
              <a:spcBef>
                <a:spcPts val="0"/>
              </a:spcBef>
              <a:spcAft>
                <a:spcPts val="0"/>
              </a:spcAft>
              <a:buSzPct val="100000"/>
              <a:buChar char="●"/>
            </a:pPr>
            <a:r>
              <a:rPr lang="en"/>
              <a:t>On Demand model</a:t>
            </a:r>
            <a:endParaRPr/>
          </a:p>
          <a:p>
            <a:pPr indent="-300038" lvl="1" marL="914400" rtl="0" algn="l">
              <a:spcBef>
                <a:spcPts val="0"/>
              </a:spcBef>
              <a:spcAft>
                <a:spcPts val="0"/>
              </a:spcAft>
              <a:buSzPct val="100000"/>
              <a:buChar char="○"/>
            </a:pPr>
            <a:r>
              <a:rPr lang="en"/>
              <a:t>More scalable but up to a point</a:t>
            </a:r>
            <a:endParaRPr/>
          </a:p>
          <a:p>
            <a:pPr indent="-300038" lvl="1" marL="914400" rtl="0" algn="l">
              <a:spcBef>
                <a:spcPts val="0"/>
              </a:spcBef>
              <a:spcAft>
                <a:spcPts val="0"/>
              </a:spcAft>
              <a:buSzPct val="100000"/>
              <a:buChar char="○"/>
            </a:pPr>
            <a:r>
              <a:rPr lang="en"/>
              <a:t>High latency on initial packets</a:t>
            </a:r>
            <a:endParaRPr/>
          </a:p>
          <a:p>
            <a:pPr indent="-300038" lvl="1" marL="914400" rtl="0" algn="l">
              <a:spcBef>
                <a:spcPts val="0"/>
              </a:spcBef>
              <a:spcAft>
                <a:spcPts val="0"/>
              </a:spcAft>
              <a:buSzPct val="100000"/>
              <a:buChar char="○"/>
            </a:pPr>
            <a:r>
              <a:rPr lang="en"/>
              <a:t>DoS prone</a:t>
            </a:r>
            <a:endParaRPr/>
          </a:p>
          <a:p>
            <a:pPr indent="-323850" lvl="0" marL="457200" rtl="0" algn="l">
              <a:spcBef>
                <a:spcPts val="0"/>
              </a:spcBef>
              <a:spcAft>
                <a:spcPts val="0"/>
              </a:spcAft>
              <a:buSzPct val="100000"/>
              <a:buChar char="●"/>
            </a:pPr>
            <a:r>
              <a:rPr lang="en"/>
              <a:t>Gateway model</a:t>
            </a:r>
            <a:endParaRPr/>
          </a:p>
          <a:p>
            <a:pPr indent="-300038" lvl="1" marL="914400" rtl="0" algn="l">
              <a:spcBef>
                <a:spcPts val="0"/>
              </a:spcBef>
              <a:spcAft>
                <a:spcPts val="0"/>
              </a:spcAft>
              <a:buSzPct val="100000"/>
              <a:buChar char="○"/>
            </a:pPr>
            <a:r>
              <a:rPr lang="en"/>
              <a:t>Consistent, predictable performance</a:t>
            </a:r>
            <a:endParaRPr/>
          </a:p>
          <a:p>
            <a:pPr indent="-300038" lvl="1" marL="914400" rtl="0" algn="l">
              <a:spcBef>
                <a:spcPts val="0"/>
              </a:spcBef>
              <a:spcAft>
                <a:spcPts val="0"/>
              </a:spcAft>
              <a:buSzPct val="100000"/>
              <a:buChar char="○"/>
            </a:pPr>
            <a:r>
              <a:rPr lang="en"/>
              <a:t>Control plane scales well</a:t>
            </a:r>
            <a:endParaRPr/>
          </a:p>
          <a:p>
            <a:pPr indent="-300038" lvl="1" marL="914400" rtl="0" algn="l">
              <a:spcBef>
                <a:spcPts val="0"/>
              </a:spcBef>
              <a:spcAft>
                <a:spcPts val="0"/>
              </a:spcAft>
              <a:buSzPct val="100000"/>
              <a:buChar char="○"/>
            </a:pPr>
            <a:r>
              <a:rPr lang="en"/>
              <a:t>Data plane does not scale!</a:t>
            </a:r>
            <a:endParaRPr/>
          </a:p>
          <a:p>
            <a:pPr indent="-323850" lvl="0" marL="457200" rtl="0" algn="l">
              <a:spcBef>
                <a:spcPts val="0"/>
              </a:spcBef>
              <a:spcAft>
                <a:spcPts val="0"/>
              </a:spcAft>
              <a:buSzPct val="100000"/>
              <a:buChar char="●"/>
            </a:pPr>
            <a:r>
              <a:rPr lang="en"/>
              <a:t>Hoverboard or Hybrid model</a:t>
            </a:r>
            <a:endParaRPr/>
          </a:p>
          <a:p>
            <a:pPr indent="-300038" lvl="1" marL="914400" rtl="0" algn="l">
              <a:spcBef>
                <a:spcPts val="0"/>
              </a:spcBef>
              <a:spcAft>
                <a:spcPts val="0"/>
              </a:spcAft>
              <a:buSzPct val="100000"/>
              <a:buChar char="○"/>
            </a:pPr>
            <a:r>
              <a:rPr lang="en"/>
              <a:t>Combination of On Demand + Gateway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Control Plane Reliability and Isolation</a:t>
            </a:r>
            <a:endParaRPr/>
          </a:p>
        </p:txBody>
      </p:sp>
      <p:sp>
        <p:nvSpPr>
          <p:cNvPr id="256" name="Google Shape;256;p27"/>
          <p:cNvSpPr txBox="1"/>
          <p:nvPr>
            <p:ph idx="1" type="body"/>
          </p:nvPr>
        </p:nvSpPr>
        <p:spPr>
          <a:xfrm>
            <a:off x="525650" y="1567550"/>
            <a:ext cx="3538500" cy="2911200"/>
          </a:xfrm>
          <a:prstGeom prst="rect">
            <a:avLst/>
          </a:prstGeom>
        </p:spPr>
        <p:txBody>
          <a:bodyPr anchorCtr="0" anchor="t" bIns="91425" lIns="91425" spcFirstLastPara="1" rIns="91425" wrap="square" tIns="91425">
            <a:normAutofit fontScale="77500" lnSpcReduction="20000"/>
          </a:bodyPr>
          <a:lstStyle/>
          <a:p>
            <a:pPr indent="-346710" lvl="0" marL="457200" rtl="0" algn="l">
              <a:spcBef>
                <a:spcPts val="0"/>
              </a:spcBef>
              <a:spcAft>
                <a:spcPts val="0"/>
              </a:spcAft>
              <a:buSzPct val="100000"/>
              <a:buChar char="●"/>
            </a:pPr>
            <a:r>
              <a:rPr lang="en"/>
              <a:t>Replicated controllers and OFEs guarantee control plane reliability</a:t>
            </a:r>
            <a:endParaRPr/>
          </a:p>
          <a:p>
            <a:pPr indent="-346710" lvl="0" marL="457200" rtl="0" algn="l">
              <a:spcBef>
                <a:spcPts val="0"/>
              </a:spcBef>
              <a:spcAft>
                <a:spcPts val="0"/>
              </a:spcAft>
              <a:buSzPct val="100000"/>
              <a:buChar char="●"/>
            </a:pPr>
            <a:r>
              <a:rPr lang="en"/>
              <a:t>No replication of switch layer (hosts are deemed unreliable)</a:t>
            </a:r>
            <a:endParaRPr/>
          </a:p>
          <a:p>
            <a:pPr indent="-346710" lvl="0" marL="457200" rtl="0" algn="l">
              <a:spcBef>
                <a:spcPts val="0"/>
              </a:spcBef>
              <a:spcAft>
                <a:spcPts val="0"/>
              </a:spcAft>
              <a:buSzPct val="100000"/>
              <a:buChar char="●"/>
            </a:pPr>
            <a:r>
              <a:rPr lang="en"/>
              <a:t>Per customer queues in VMC with round robin processing</a:t>
            </a:r>
            <a:endParaRPr/>
          </a:p>
          <a:p>
            <a:pPr indent="-346710" lvl="0" marL="457200" rtl="0" algn="l">
              <a:spcBef>
                <a:spcPts val="0"/>
              </a:spcBef>
              <a:spcAft>
                <a:spcPts val="0"/>
              </a:spcAft>
              <a:buSzPct val="100000"/>
              <a:buChar char="●"/>
            </a:pPr>
            <a:r>
              <a:rPr lang="en"/>
              <a:t>Fail Static</a:t>
            </a:r>
            <a:endParaRPr/>
          </a:p>
        </p:txBody>
      </p:sp>
      <p:pic>
        <p:nvPicPr>
          <p:cNvPr id="257" name="Google Shape;257;p27"/>
          <p:cNvPicPr preferRelativeResize="0"/>
          <p:nvPr/>
        </p:nvPicPr>
        <p:blipFill>
          <a:blip r:embed="rId3">
            <a:alphaModFix/>
          </a:blip>
          <a:stretch>
            <a:fillRect/>
          </a:stretch>
        </p:blipFill>
        <p:spPr>
          <a:xfrm>
            <a:off x="4143924" y="1409774"/>
            <a:ext cx="4861725" cy="3105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 support for VM migration</a:t>
            </a:r>
            <a:endParaRPr/>
          </a:p>
        </p:txBody>
      </p:sp>
      <p:sp>
        <p:nvSpPr>
          <p:cNvPr id="263" name="Google Shape;263;p28"/>
          <p:cNvSpPr/>
          <p:nvPr/>
        </p:nvSpPr>
        <p:spPr>
          <a:xfrm>
            <a:off x="1659850" y="1871600"/>
            <a:ext cx="1612200" cy="113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
          <p:cNvSpPr/>
          <p:nvPr/>
        </p:nvSpPr>
        <p:spPr>
          <a:xfrm>
            <a:off x="5487150" y="1436575"/>
            <a:ext cx="1295700" cy="91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
          <p:cNvSpPr/>
          <p:nvPr/>
        </p:nvSpPr>
        <p:spPr>
          <a:xfrm>
            <a:off x="5619075" y="3487900"/>
            <a:ext cx="1295700" cy="91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p:nvPr/>
        </p:nvSpPr>
        <p:spPr>
          <a:xfrm>
            <a:off x="1892100" y="2062875"/>
            <a:ext cx="430200" cy="41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8"/>
          <p:cNvSpPr/>
          <p:nvPr/>
        </p:nvSpPr>
        <p:spPr>
          <a:xfrm>
            <a:off x="5664750" y="1545875"/>
            <a:ext cx="430200" cy="41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
          <p:cNvSpPr/>
          <p:nvPr/>
        </p:nvSpPr>
        <p:spPr>
          <a:xfrm>
            <a:off x="5755650" y="3638200"/>
            <a:ext cx="430200" cy="41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8"/>
          <p:cNvSpPr/>
          <p:nvPr/>
        </p:nvSpPr>
        <p:spPr>
          <a:xfrm>
            <a:off x="6386175" y="3638200"/>
            <a:ext cx="430200" cy="41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
          <p:cNvSpPr txBox="1"/>
          <p:nvPr/>
        </p:nvSpPr>
        <p:spPr>
          <a:xfrm>
            <a:off x="1824871" y="2062875"/>
            <a:ext cx="587400" cy="4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VM1</a:t>
            </a:r>
            <a:endParaRPr>
              <a:solidFill>
                <a:schemeClr val="lt1"/>
              </a:solidFill>
              <a:latin typeface="Lato"/>
              <a:ea typeface="Lato"/>
              <a:cs typeface="Lato"/>
              <a:sym typeface="Lato"/>
            </a:endParaRPr>
          </a:p>
        </p:txBody>
      </p:sp>
      <p:sp>
        <p:nvSpPr>
          <p:cNvPr id="271" name="Google Shape;271;p28"/>
          <p:cNvSpPr txBox="1"/>
          <p:nvPr/>
        </p:nvSpPr>
        <p:spPr>
          <a:xfrm>
            <a:off x="5586150" y="1518575"/>
            <a:ext cx="587400" cy="4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VM2</a:t>
            </a:r>
            <a:endParaRPr>
              <a:solidFill>
                <a:schemeClr val="lt1"/>
              </a:solidFill>
              <a:latin typeface="Lato"/>
              <a:ea typeface="Lato"/>
              <a:cs typeface="Lato"/>
              <a:sym typeface="Lato"/>
            </a:endParaRPr>
          </a:p>
        </p:txBody>
      </p:sp>
      <p:sp>
        <p:nvSpPr>
          <p:cNvPr id="272" name="Google Shape;272;p28"/>
          <p:cNvSpPr txBox="1"/>
          <p:nvPr/>
        </p:nvSpPr>
        <p:spPr>
          <a:xfrm>
            <a:off x="5677050" y="3610900"/>
            <a:ext cx="587400" cy="4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VM3</a:t>
            </a:r>
            <a:endParaRPr>
              <a:solidFill>
                <a:schemeClr val="lt1"/>
              </a:solidFill>
              <a:latin typeface="Lato"/>
              <a:ea typeface="Lato"/>
              <a:cs typeface="Lato"/>
              <a:sym typeface="Lato"/>
            </a:endParaRPr>
          </a:p>
        </p:txBody>
      </p:sp>
      <p:sp>
        <p:nvSpPr>
          <p:cNvPr id="273" name="Google Shape;273;p28"/>
          <p:cNvSpPr txBox="1"/>
          <p:nvPr/>
        </p:nvSpPr>
        <p:spPr>
          <a:xfrm>
            <a:off x="6327375" y="3610900"/>
            <a:ext cx="587400" cy="4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latin typeface="Lato"/>
                <a:ea typeface="Lato"/>
                <a:cs typeface="Lato"/>
                <a:sym typeface="Lato"/>
              </a:rPr>
              <a:t>VM2</a:t>
            </a:r>
            <a:endParaRPr>
              <a:solidFill>
                <a:srgbClr val="0000FF"/>
              </a:solidFill>
              <a:latin typeface="Lato"/>
              <a:ea typeface="Lato"/>
              <a:cs typeface="Lato"/>
              <a:sym typeface="Lato"/>
            </a:endParaRPr>
          </a:p>
        </p:txBody>
      </p:sp>
      <p:cxnSp>
        <p:nvCxnSpPr>
          <p:cNvPr id="274" name="Google Shape;274;p28"/>
          <p:cNvCxnSpPr>
            <a:stCxn id="270" idx="3"/>
            <a:endCxn id="271" idx="1"/>
          </p:cNvCxnSpPr>
          <p:nvPr/>
        </p:nvCxnSpPr>
        <p:spPr>
          <a:xfrm flipH="1" rot="10800000">
            <a:off x="2412271" y="1754325"/>
            <a:ext cx="3174000" cy="544200"/>
          </a:xfrm>
          <a:prstGeom prst="straightConnector1">
            <a:avLst/>
          </a:prstGeom>
          <a:noFill/>
          <a:ln cap="flat" cmpd="sng" w="9525">
            <a:solidFill>
              <a:schemeClr val="dk2"/>
            </a:solidFill>
            <a:prstDash val="solid"/>
            <a:round/>
            <a:headEnd len="med" w="med" type="none"/>
            <a:tailEnd len="med" w="med" type="triangle"/>
          </a:ln>
        </p:spPr>
      </p:cxnSp>
      <p:sp>
        <p:nvSpPr>
          <p:cNvPr id="275" name="Google Shape;275;p28"/>
          <p:cNvSpPr txBox="1"/>
          <p:nvPr/>
        </p:nvSpPr>
        <p:spPr>
          <a:xfrm>
            <a:off x="3722700" y="2059325"/>
            <a:ext cx="1195500" cy="2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Initial Flow</a:t>
            </a:r>
            <a:endParaRPr>
              <a:solidFill>
                <a:schemeClr val="lt1"/>
              </a:solidFill>
              <a:latin typeface="Lato"/>
              <a:ea typeface="Lato"/>
              <a:cs typeface="Lato"/>
              <a:sym typeface="Lato"/>
            </a:endParaRPr>
          </a:p>
        </p:txBody>
      </p:sp>
      <p:cxnSp>
        <p:nvCxnSpPr>
          <p:cNvPr id="276" name="Google Shape;276;p28"/>
          <p:cNvCxnSpPr>
            <a:stCxn id="270" idx="3"/>
            <a:endCxn id="273" idx="0"/>
          </p:cNvCxnSpPr>
          <p:nvPr/>
        </p:nvCxnSpPr>
        <p:spPr>
          <a:xfrm>
            <a:off x="2412271" y="2298525"/>
            <a:ext cx="4208700" cy="1312500"/>
          </a:xfrm>
          <a:prstGeom prst="straightConnector1">
            <a:avLst/>
          </a:prstGeom>
          <a:noFill/>
          <a:ln cap="flat" cmpd="sng" w="9525">
            <a:solidFill>
              <a:schemeClr val="dk2"/>
            </a:solidFill>
            <a:prstDash val="solid"/>
            <a:round/>
            <a:headEnd len="med" w="med" type="none"/>
            <a:tailEnd len="med" w="med" type="triangle"/>
          </a:ln>
        </p:spPr>
      </p:cxnSp>
      <p:sp>
        <p:nvSpPr>
          <p:cNvPr id="277" name="Google Shape;277;p28"/>
          <p:cNvSpPr txBox="1"/>
          <p:nvPr/>
        </p:nvSpPr>
        <p:spPr>
          <a:xfrm>
            <a:off x="3560900" y="3069100"/>
            <a:ext cx="1195500" cy="2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Final</a:t>
            </a:r>
            <a:r>
              <a:rPr lang="en">
                <a:solidFill>
                  <a:schemeClr val="lt1"/>
                </a:solidFill>
                <a:latin typeface="Lato"/>
                <a:ea typeface="Lato"/>
                <a:cs typeface="Lato"/>
                <a:sym typeface="Lato"/>
              </a:rPr>
              <a:t> Flow</a:t>
            </a:r>
            <a:endParaRPr>
              <a:solidFill>
                <a:schemeClr val="lt1"/>
              </a:solidFill>
              <a:latin typeface="Lato"/>
              <a:ea typeface="Lato"/>
              <a:cs typeface="Lato"/>
              <a:sym typeface="Lato"/>
            </a:endParaRPr>
          </a:p>
        </p:txBody>
      </p:sp>
      <p:sp>
        <p:nvSpPr>
          <p:cNvPr id="278" name="Google Shape;278;p28"/>
          <p:cNvSpPr/>
          <p:nvPr/>
        </p:nvSpPr>
        <p:spPr>
          <a:xfrm>
            <a:off x="2397575" y="1612050"/>
            <a:ext cx="4303325" cy="1987725"/>
          </a:xfrm>
          <a:custGeom>
            <a:rect b="b" l="l" r="r" t="t"/>
            <a:pathLst>
              <a:path extrusionOk="0" h="79509" w="172133">
                <a:moveTo>
                  <a:pt x="0" y="22131"/>
                </a:moveTo>
                <a:lnTo>
                  <a:pt x="125957" y="0"/>
                </a:lnTo>
                <a:lnTo>
                  <a:pt x="172133" y="79509"/>
                </a:lnTo>
              </a:path>
            </a:pathLst>
          </a:custGeom>
          <a:noFill/>
          <a:ln cap="flat" cmpd="sng" w="19050">
            <a:solidFill>
              <a:schemeClr val="dk2"/>
            </a:solidFill>
            <a:prstDash val="dash"/>
            <a:round/>
            <a:headEnd len="med" w="med" type="none"/>
            <a:tailEnd len="med" w="med" type="none"/>
          </a:ln>
        </p:spPr>
      </p:sp>
      <p:sp>
        <p:nvSpPr>
          <p:cNvPr id="279" name="Google Shape;279;p28"/>
          <p:cNvSpPr txBox="1"/>
          <p:nvPr/>
        </p:nvSpPr>
        <p:spPr>
          <a:xfrm>
            <a:off x="3560900" y="1436575"/>
            <a:ext cx="1195500" cy="2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ato"/>
                <a:ea typeface="Lato"/>
                <a:cs typeface="Lato"/>
                <a:sym typeface="Lato"/>
              </a:rPr>
              <a:t>Hairpin</a:t>
            </a:r>
            <a:r>
              <a:rPr lang="en">
                <a:solidFill>
                  <a:schemeClr val="lt1"/>
                </a:solidFill>
                <a:latin typeface="Lato"/>
                <a:ea typeface="Lato"/>
                <a:cs typeface="Lato"/>
                <a:sym typeface="Lato"/>
              </a:rPr>
              <a:t> Flow</a:t>
            </a:r>
            <a:endParaRPr>
              <a:solidFill>
                <a:schemeClr val="lt1"/>
              </a:solidFill>
              <a:latin typeface="Lato"/>
              <a:ea typeface="Lato"/>
              <a:cs typeface="Lato"/>
              <a:sym typeface="Lato"/>
            </a:endParaRPr>
          </a:p>
        </p:txBody>
      </p:sp>
      <p:sp>
        <p:nvSpPr>
          <p:cNvPr id="280" name="Google Shape;280;p28"/>
          <p:cNvSpPr txBox="1"/>
          <p:nvPr/>
        </p:nvSpPr>
        <p:spPr>
          <a:xfrm>
            <a:off x="-170325" y="2992900"/>
            <a:ext cx="3565500" cy="1946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VM sees same virtual Ethernet device</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VM is paused during migration (~65msec mean, ~400msec 99th percentile)</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Hairpinning ensures packets are not lost in network</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Buffers on VM host switches preserve packets</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TCP control flow guarantees delivery</a:t>
            </a:r>
            <a:endParaRPr>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Optimizations</a:t>
            </a:r>
            <a:endParaRPr/>
          </a:p>
        </p:txBody>
      </p:sp>
      <p:sp>
        <p:nvSpPr>
          <p:cNvPr id="286" name="Google Shape;286;p29"/>
          <p:cNvSpPr txBox="1"/>
          <p:nvPr>
            <p:ph idx="1" type="body"/>
          </p:nvPr>
        </p:nvSpPr>
        <p:spPr>
          <a:xfrm>
            <a:off x="354875" y="1560725"/>
            <a:ext cx="2883000" cy="2911200"/>
          </a:xfrm>
          <a:prstGeom prst="rect">
            <a:avLst/>
          </a:prstGeom>
        </p:spPr>
        <p:txBody>
          <a:bodyPr anchorCtr="0" anchor="t" bIns="91425" lIns="91425" spcFirstLastPara="1" rIns="91425" wrap="square" tIns="91425">
            <a:normAutofit fontScale="92500" lnSpcReduction="20000"/>
          </a:bodyPr>
          <a:lstStyle/>
          <a:p>
            <a:pPr indent="-369570" lvl="0" marL="457200" rtl="0" algn="l">
              <a:spcBef>
                <a:spcPts val="0"/>
              </a:spcBef>
              <a:spcAft>
                <a:spcPts val="0"/>
              </a:spcAft>
              <a:buSzPct val="100000"/>
              <a:buChar char="●"/>
            </a:pPr>
            <a:r>
              <a:rPr lang="en"/>
              <a:t>Avoid copies</a:t>
            </a:r>
            <a:endParaRPr/>
          </a:p>
          <a:p>
            <a:pPr indent="-369570" lvl="0" marL="457200" rtl="0" algn="l">
              <a:spcBef>
                <a:spcPts val="0"/>
              </a:spcBef>
              <a:spcAft>
                <a:spcPts val="0"/>
              </a:spcAft>
              <a:buSzPct val="100000"/>
              <a:buChar char="●"/>
            </a:pPr>
            <a:r>
              <a:rPr lang="en"/>
              <a:t>Avoid interrupts and use polling</a:t>
            </a:r>
            <a:endParaRPr/>
          </a:p>
          <a:p>
            <a:pPr indent="-369570" lvl="0" marL="457200" rtl="0" algn="l">
              <a:spcBef>
                <a:spcPts val="0"/>
              </a:spcBef>
              <a:spcAft>
                <a:spcPts val="0"/>
              </a:spcAft>
              <a:buSzPct val="100000"/>
              <a:buChar char="●"/>
            </a:pPr>
            <a:r>
              <a:rPr lang="en"/>
              <a:t>Batch processing of packets</a:t>
            </a:r>
            <a:endParaRPr/>
          </a:p>
          <a:p>
            <a:pPr indent="-369570" lvl="0" marL="457200" rtl="0" algn="l">
              <a:spcBef>
                <a:spcPts val="0"/>
              </a:spcBef>
              <a:spcAft>
                <a:spcPts val="0"/>
              </a:spcAft>
              <a:buSzPct val="100000"/>
              <a:buChar char="●"/>
            </a:pPr>
            <a:r>
              <a:rPr lang="en"/>
              <a:t>Offload packetization work to NIC</a:t>
            </a:r>
            <a:endParaRPr/>
          </a:p>
        </p:txBody>
      </p:sp>
      <p:pic>
        <p:nvPicPr>
          <p:cNvPr id="287" name="Google Shape;287;p29"/>
          <p:cNvPicPr preferRelativeResize="0"/>
          <p:nvPr/>
        </p:nvPicPr>
        <p:blipFill>
          <a:blip r:embed="rId3">
            <a:alphaModFix/>
          </a:blip>
          <a:stretch>
            <a:fillRect/>
          </a:stretch>
        </p:blipFill>
        <p:spPr>
          <a:xfrm>
            <a:off x="5196525" y="59950"/>
            <a:ext cx="3746425" cy="1729675"/>
          </a:xfrm>
          <a:prstGeom prst="rect">
            <a:avLst/>
          </a:prstGeom>
          <a:noFill/>
          <a:ln>
            <a:noFill/>
          </a:ln>
        </p:spPr>
      </p:pic>
      <p:pic>
        <p:nvPicPr>
          <p:cNvPr id="288" name="Google Shape;288;p29"/>
          <p:cNvPicPr preferRelativeResize="0"/>
          <p:nvPr/>
        </p:nvPicPr>
        <p:blipFill>
          <a:blip r:embed="rId4">
            <a:alphaModFix/>
          </a:blip>
          <a:stretch>
            <a:fillRect/>
          </a:stretch>
        </p:blipFill>
        <p:spPr>
          <a:xfrm>
            <a:off x="5196525" y="1860075"/>
            <a:ext cx="3746425" cy="1672932"/>
          </a:xfrm>
          <a:prstGeom prst="rect">
            <a:avLst/>
          </a:prstGeom>
          <a:noFill/>
          <a:ln>
            <a:noFill/>
          </a:ln>
        </p:spPr>
      </p:pic>
      <p:pic>
        <p:nvPicPr>
          <p:cNvPr id="289" name="Google Shape;289;p29"/>
          <p:cNvPicPr preferRelativeResize="0"/>
          <p:nvPr/>
        </p:nvPicPr>
        <p:blipFill>
          <a:blip r:embed="rId5">
            <a:alphaModFix/>
          </a:blip>
          <a:stretch>
            <a:fillRect/>
          </a:stretch>
        </p:blipFill>
        <p:spPr>
          <a:xfrm>
            <a:off x="5196525" y="3603450"/>
            <a:ext cx="3746425" cy="1478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Hoverboard Scaling Analysis</a:t>
            </a:r>
            <a:endParaRPr/>
          </a:p>
        </p:txBody>
      </p:sp>
      <p:pic>
        <p:nvPicPr>
          <p:cNvPr id="295" name="Google Shape;295;p30"/>
          <p:cNvPicPr preferRelativeResize="0"/>
          <p:nvPr/>
        </p:nvPicPr>
        <p:blipFill>
          <a:blip r:embed="rId3">
            <a:alphaModFix/>
          </a:blip>
          <a:stretch>
            <a:fillRect/>
          </a:stretch>
        </p:blipFill>
        <p:spPr>
          <a:xfrm>
            <a:off x="234375" y="1412450"/>
            <a:ext cx="8839199" cy="2462830"/>
          </a:xfrm>
          <a:prstGeom prst="rect">
            <a:avLst/>
          </a:prstGeom>
          <a:noFill/>
          <a:ln>
            <a:noFill/>
          </a:ln>
        </p:spPr>
      </p:pic>
      <p:sp>
        <p:nvSpPr>
          <p:cNvPr id="296" name="Google Shape;296;p30"/>
          <p:cNvSpPr txBox="1"/>
          <p:nvPr/>
        </p:nvSpPr>
        <p:spPr>
          <a:xfrm>
            <a:off x="273225" y="4009600"/>
            <a:ext cx="8763900" cy="96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Cost of adding routes very low (essentially rules says forward to hoverboard)</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Most routes/flows have very little traffic (98% have &lt; 100Kbps)</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Offloading about 20K routes in a cluster gets rid of 90+% of bandwidth from Hoverboard</a:t>
            </a:r>
            <a:endParaRPr>
              <a:solidFill>
                <a:schemeClr val="l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Upgrading Andromeda itself</a:t>
            </a:r>
            <a:endParaRPr/>
          </a:p>
        </p:txBody>
      </p:sp>
      <p:sp>
        <p:nvSpPr>
          <p:cNvPr id="302" name="Google Shape;302;p3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10000"/>
          </a:bodyPr>
          <a:lstStyle/>
          <a:p>
            <a:pPr indent="-358140" lvl="0" marL="457200" rtl="0" algn="l">
              <a:spcBef>
                <a:spcPts val="0"/>
              </a:spcBef>
              <a:spcAft>
                <a:spcPts val="0"/>
              </a:spcAft>
              <a:buSzPct val="100000"/>
              <a:buChar char="●"/>
            </a:pPr>
            <a:r>
              <a:rPr lang="en"/>
              <a:t>Early vSwitch lived in the kernel which made upgrades slow and risky</a:t>
            </a:r>
            <a:endParaRPr/>
          </a:p>
          <a:p>
            <a:pPr indent="-358140" lvl="0" marL="457200" rtl="0" algn="l">
              <a:spcBef>
                <a:spcPts val="0"/>
              </a:spcBef>
              <a:spcAft>
                <a:spcPts val="0"/>
              </a:spcAft>
              <a:buSzPct val="100000"/>
              <a:buChar char="●"/>
            </a:pPr>
            <a:r>
              <a:rPr lang="en"/>
              <a:t>Move to user space in </a:t>
            </a:r>
            <a:r>
              <a:rPr lang="en"/>
              <a:t>conjunction with DPDK for agility and speed</a:t>
            </a:r>
            <a:endParaRPr/>
          </a:p>
          <a:p>
            <a:pPr indent="-325755" lvl="1" marL="914400" rtl="0" algn="l">
              <a:spcBef>
                <a:spcPts val="0"/>
              </a:spcBef>
              <a:spcAft>
                <a:spcPts val="0"/>
              </a:spcAft>
              <a:buSzPct val="100000"/>
              <a:buChar char="○"/>
            </a:pPr>
            <a:r>
              <a:rPr lang="en"/>
              <a:t>During upgrade new dataplane starts and copies state from old dataplane</a:t>
            </a:r>
            <a:endParaRPr/>
          </a:p>
          <a:p>
            <a:pPr indent="-325755" lvl="1" marL="914400" rtl="0" algn="l">
              <a:spcBef>
                <a:spcPts val="0"/>
              </a:spcBef>
              <a:spcAft>
                <a:spcPts val="0"/>
              </a:spcAft>
              <a:buSzPct val="100000"/>
              <a:buChar char="○"/>
            </a:pPr>
            <a:r>
              <a:rPr lang="en"/>
              <a:t>Once done old datplane stops serving and transfers any deltas to new</a:t>
            </a:r>
            <a:endParaRPr/>
          </a:p>
          <a:p>
            <a:pPr indent="-325755" lvl="1" marL="914400" rtl="0" algn="l">
              <a:spcBef>
                <a:spcPts val="0"/>
              </a:spcBef>
              <a:spcAft>
                <a:spcPts val="0"/>
              </a:spcAft>
              <a:buSzPct val="100000"/>
              <a:buChar char="○"/>
            </a:pPr>
            <a:r>
              <a:rPr lang="en"/>
              <a:t>VMM connects to new dataplane and resumes sending</a:t>
            </a:r>
            <a:endParaRPr/>
          </a:p>
          <a:p>
            <a:pPr indent="-325755" lvl="1" marL="914400" rtl="0" algn="l">
              <a:spcBef>
                <a:spcPts val="0"/>
              </a:spcBef>
              <a:spcAft>
                <a:spcPts val="0"/>
              </a:spcAft>
              <a:buSzPct val="100000"/>
              <a:buChar char="○"/>
            </a:pPr>
            <a:r>
              <a:rPr lang="en"/>
              <a:t>Median blackout time of 270msec.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other key technologies</a:t>
            </a:r>
            <a:endParaRPr/>
          </a:p>
        </p:txBody>
      </p:sp>
      <p:sp>
        <p:nvSpPr>
          <p:cNvPr id="308" name="Google Shape;308;p3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369570" lvl="0" marL="457200" rtl="0" algn="l">
              <a:spcBef>
                <a:spcPts val="0"/>
              </a:spcBef>
              <a:spcAft>
                <a:spcPts val="0"/>
              </a:spcAft>
              <a:buSzPct val="100000"/>
              <a:buChar char="●"/>
            </a:pPr>
            <a:r>
              <a:rPr lang="en" u="sng">
                <a:solidFill>
                  <a:schemeClr val="hlink"/>
                </a:solidFill>
                <a:hlinkClick r:id="rId3"/>
              </a:rPr>
              <a:t>DPDK (Intel Data Plane Development Kit)</a:t>
            </a:r>
            <a:endParaRPr/>
          </a:p>
          <a:p>
            <a:pPr indent="-334328" lvl="1" marL="914400" rtl="0" algn="l">
              <a:spcBef>
                <a:spcPts val="0"/>
              </a:spcBef>
              <a:spcAft>
                <a:spcPts val="0"/>
              </a:spcAft>
              <a:buSzPct val="100000"/>
              <a:buChar char="○"/>
            </a:pPr>
            <a:r>
              <a:rPr lang="en"/>
              <a:t>Technology to give user programs very fast access to NIC data and metadata</a:t>
            </a:r>
            <a:endParaRPr/>
          </a:p>
          <a:p>
            <a:pPr indent="-369570" lvl="0" marL="457200" rtl="0" algn="l">
              <a:spcBef>
                <a:spcPts val="0"/>
              </a:spcBef>
              <a:spcAft>
                <a:spcPts val="0"/>
              </a:spcAft>
              <a:buSzPct val="100000"/>
              <a:buChar char="●"/>
            </a:pPr>
            <a:r>
              <a:rPr lang="en" u="sng">
                <a:solidFill>
                  <a:schemeClr val="hlink"/>
                </a:solidFill>
                <a:hlinkClick r:id="rId4"/>
              </a:rPr>
              <a:t>XDP (Express Data Path)</a:t>
            </a:r>
            <a:endParaRPr/>
          </a:p>
          <a:p>
            <a:pPr indent="-334328" lvl="1" marL="914400" rtl="0" algn="l">
              <a:spcBef>
                <a:spcPts val="0"/>
              </a:spcBef>
              <a:spcAft>
                <a:spcPts val="0"/>
              </a:spcAft>
              <a:buSzPct val="100000"/>
              <a:buChar char="○"/>
            </a:pPr>
            <a:r>
              <a:rPr lang="en"/>
              <a:t>Technology to allow users to push (“safe”) programs into the kernel for packet processing</a:t>
            </a:r>
            <a:endParaRPr/>
          </a:p>
          <a:p>
            <a:pPr indent="-369570" lvl="0" marL="457200" rtl="0" algn="l">
              <a:spcBef>
                <a:spcPts val="0"/>
              </a:spcBef>
              <a:spcAft>
                <a:spcPts val="0"/>
              </a:spcAft>
              <a:buSzPct val="100000"/>
              <a:buChar char="●"/>
            </a:pPr>
            <a:r>
              <a:rPr lang="en"/>
              <a:t>Both meant to allow developers to process network packets efficiently and fast </a:t>
            </a:r>
            <a:r>
              <a:rPr lang="en"/>
              <a:t>without</a:t>
            </a:r>
            <a:r>
              <a:rPr lang="en"/>
              <a:t> writing kernel code.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Tcpdump</a:t>
            </a:r>
            <a:endParaRPr/>
          </a:p>
        </p:txBody>
      </p:sp>
      <p:sp>
        <p:nvSpPr>
          <p:cNvPr id="314" name="Google Shape;314;p3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a:bodyPr>
          <a:lstStyle/>
          <a:p>
            <a:pPr indent="-358140" lvl="0" marL="457200" rtl="0" algn="l">
              <a:spcBef>
                <a:spcPts val="0"/>
              </a:spcBef>
              <a:spcAft>
                <a:spcPts val="0"/>
              </a:spcAft>
              <a:buSzPct val="100000"/>
              <a:buChar char="●"/>
            </a:pPr>
            <a:r>
              <a:rPr lang="en"/>
              <a:t>Leverages XDP (not quite but uses common language)</a:t>
            </a:r>
            <a:endParaRPr/>
          </a:p>
          <a:p>
            <a:pPr indent="-358140" lvl="0" marL="457200" rtl="0" algn="l">
              <a:spcBef>
                <a:spcPts val="0"/>
              </a:spcBef>
              <a:spcAft>
                <a:spcPts val="0"/>
              </a:spcAft>
              <a:buSzPct val="100000"/>
              <a:buChar char="●"/>
            </a:pPr>
            <a:r>
              <a:rPr lang="en"/>
              <a:t>A great way to see the traffic coming or leaving your host</a:t>
            </a:r>
            <a:endParaRPr/>
          </a:p>
          <a:p>
            <a:pPr indent="-358140" lvl="0" marL="457200" rtl="0" algn="l">
              <a:spcBef>
                <a:spcPts val="0"/>
              </a:spcBef>
              <a:spcAft>
                <a:spcPts val="0"/>
              </a:spcAft>
              <a:buSzPct val="100000"/>
              <a:buChar char="●"/>
            </a:pPr>
            <a:r>
              <a:rPr lang="en"/>
              <a:t>t</a:t>
            </a:r>
            <a:r>
              <a:rPr lang="en"/>
              <a:t>cpdump -n -i en0 pcap_filter where pcap_filter can be</a:t>
            </a:r>
            <a:endParaRPr/>
          </a:p>
          <a:p>
            <a:pPr indent="-325755" lvl="1" marL="914400" rtl="0" algn="l">
              <a:spcBef>
                <a:spcPts val="0"/>
              </a:spcBef>
              <a:spcAft>
                <a:spcPts val="0"/>
              </a:spcAft>
              <a:buSzPct val="100000"/>
              <a:buChar char="○"/>
            </a:pPr>
            <a:r>
              <a:rPr lang="en"/>
              <a:t>type (host, network, port)</a:t>
            </a:r>
            <a:endParaRPr/>
          </a:p>
          <a:p>
            <a:pPr indent="-325755" lvl="1" marL="914400" rtl="0" algn="l">
              <a:spcBef>
                <a:spcPts val="0"/>
              </a:spcBef>
              <a:spcAft>
                <a:spcPts val="0"/>
              </a:spcAft>
              <a:buSzPct val="100000"/>
              <a:buChar char="○"/>
            </a:pPr>
            <a:r>
              <a:rPr lang="en"/>
              <a:t>d</a:t>
            </a:r>
            <a:r>
              <a:rPr lang="en"/>
              <a:t>irection (src, dst, or combination)</a:t>
            </a:r>
            <a:endParaRPr/>
          </a:p>
          <a:p>
            <a:pPr indent="-325755" lvl="1" marL="914400" rtl="0" algn="l">
              <a:spcBef>
                <a:spcPts val="0"/>
              </a:spcBef>
              <a:spcAft>
                <a:spcPts val="0"/>
              </a:spcAft>
              <a:buSzPct val="100000"/>
              <a:buChar char="○"/>
            </a:pPr>
            <a:r>
              <a:rPr lang="en"/>
              <a:t>Protocol (ether, ip, ip6, tcp, udp etc)</a:t>
            </a:r>
            <a:endParaRPr/>
          </a:p>
          <a:p>
            <a:pPr indent="-325755" lvl="1" marL="914400" rtl="0" algn="l">
              <a:spcBef>
                <a:spcPts val="0"/>
              </a:spcBef>
              <a:spcAft>
                <a:spcPts val="0"/>
              </a:spcAft>
              <a:buSzPct val="100000"/>
              <a:buChar char="○"/>
            </a:pPr>
            <a:r>
              <a:rPr lang="en" u="sng">
                <a:solidFill>
                  <a:schemeClr val="hlink"/>
                </a:solidFill>
                <a:hlinkClick r:id="rId3"/>
              </a:rPr>
              <a:t>https://www.tcpdump.org/manpages/pcap-filter.7.html</a:t>
            </a:r>
            <a:r>
              <a:rPr lang="en"/>
              <a:t> </a:t>
            </a:r>
            <a:endParaRPr/>
          </a:p>
          <a:p>
            <a:pPr indent="-325755" lvl="1" marL="914400" rtl="0" algn="l">
              <a:spcBef>
                <a:spcPts val="0"/>
              </a:spcBef>
              <a:spcAft>
                <a:spcPts val="0"/>
              </a:spcAft>
              <a:buSzPct val="100000"/>
              <a:buChar char="○"/>
            </a:pPr>
            <a:r>
              <a:rPr lang="en"/>
              <a:t>Let’s see if we can see any packets we are sending to google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Attendance poll</a:t>
            </a:r>
            <a:endParaRPr/>
          </a:p>
        </p:txBody>
      </p:sp>
      <p:sp>
        <p:nvSpPr>
          <p:cNvPr id="320" name="Google Shape;320;p3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https://piazza.com/class/mkctevprups13o/post/172</a:t>
            </a:r>
            <a:r>
              <a:rPr lang="en"/>
              <a:t> </a:t>
            </a:r>
            <a:endParaRPr/>
          </a:p>
          <a:p>
            <a:pPr indent="0" lvl="0" marL="0" rtl="0" algn="l">
              <a:spcBef>
                <a:spcPts val="1200"/>
              </a:spcBef>
              <a:spcAft>
                <a:spcPts val="0"/>
              </a:spcAft>
              <a:buNone/>
            </a:pPr>
            <a:r>
              <a:rPr lang="en"/>
              <a:t>For next lecture install docker on your machines:</a:t>
            </a:r>
            <a:endParaRPr/>
          </a:p>
          <a:p>
            <a:pPr indent="0" lvl="0" marL="0" rtl="0" algn="l">
              <a:spcBef>
                <a:spcPts val="1200"/>
              </a:spcBef>
              <a:spcAft>
                <a:spcPts val="1200"/>
              </a:spcAft>
              <a:buNone/>
            </a:pPr>
            <a:r>
              <a:rPr lang="en" u="sng">
                <a:solidFill>
                  <a:schemeClr val="hlink"/>
                </a:solidFill>
                <a:hlinkClick r:id="rId4"/>
              </a:rPr>
              <a:t>https://www.docker.com/products/docker-desktop/</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