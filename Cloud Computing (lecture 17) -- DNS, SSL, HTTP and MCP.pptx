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Montserrat"/>
      <p:regular r:id="rId43"/>
      <p:bold r:id="rId44"/>
      <p:italic r:id="rId45"/>
      <p:boldItalic r:id="rId46"/>
    </p:embeddedFont>
    <p:embeddedFont>
      <p:font typeface="Lato"/>
      <p:regular r:id="rId47"/>
      <p:bold r:id="rId48"/>
      <p:italic r:id="rId49"/>
      <p:boldItalic r:id="rId50"/>
    </p:embeddedFon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bold.fntdata"/><Relationship Id="rId47" Type="http://schemas.openxmlformats.org/officeDocument/2006/relationships/font" Target="fonts/Lato-regular.fntdata"/><Relationship Id="rId49"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regular.fntdata"/><Relationship Id="rId50" Type="http://schemas.openxmlformats.org/officeDocument/2006/relationships/font" Target="fonts/Lato-boldItalic.fntdata"/><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ac0f6ca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7ac0f6ca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ac0f6caa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7ac0f6caa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7ac0f6caa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7ac0f6caa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7ac0f6caa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7ac0f6caa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971aa30a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971aa30a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7ac0f6caa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7ac0f6caa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7ac0f6caa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7ac0f6caa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7ac0f6caa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7ac0f6caa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7a797e45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7a797e45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7ac0f6caa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7ac0f6caa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7ac0f6caa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7ac0f6caa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7ac0f6caa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7ac0f6caa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7ac0f6caa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7ac0f6caa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7ac0f6caa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7ac0f6caa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need the random message to prevent replay attacks.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7ac0f6caa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7ac0f6caa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7ac0f6caa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7ac0f6caa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7ac0f6caa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7ac0f6caa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7af49419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7af49419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7af49419d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7af49419d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7af49419d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7af49419d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7af49419d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7af49419d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7af49419d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7af49419d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7af49419d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7af49419d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7af49419d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7af49419d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92a1bfd8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92a1bfd8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92b44fbd0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92b44fbd0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92b44fbd0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92b44fbd0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92b44fbd0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92b44fbd0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2b44fbd0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92b44fbd0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92b44fbd0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92b44fbd0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92b44fbd0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92b44fbd0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2b44fbd0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92b44fbd0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92b44fbd0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92b44fbd0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92b44fbd0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92b44fbd0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96deb63e1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96deb63e1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971aa30a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971aa30ad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81000" lvl="0" marL="457200">
              <a:spcBef>
                <a:spcPts val="0"/>
              </a:spcBef>
              <a:spcAft>
                <a:spcPts val="0"/>
              </a:spcAft>
              <a:buSzPts val="2400"/>
              <a:buChar char="●"/>
              <a:defRPr sz="2400"/>
            </a:lvl1pPr>
            <a:lvl2pPr indent="-342900" lvl="1" marL="914400">
              <a:spcBef>
                <a:spcPts val="0"/>
              </a:spcBef>
              <a:spcAft>
                <a:spcPts val="0"/>
              </a:spcAft>
              <a:buSzPts val="1800"/>
              <a:buChar char="○"/>
              <a:defRPr sz="1800"/>
            </a:lvl2pPr>
            <a:lvl3pPr indent="-317500" lvl="2" marL="1371600">
              <a:spcBef>
                <a:spcPts val="0"/>
              </a:spcBef>
              <a:spcAft>
                <a:spcPts val="0"/>
              </a:spcAft>
              <a:buSzPts val="1400"/>
              <a:buChar char="■"/>
              <a:defRPr sz="1400"/>
            </a:lvl3pPr>
            <a:lvl4pPr indent="-304800" lvl="3" marL="1828800">
              <a:spcBef>
                <a:spcPts val="0"/>
              </a:spcBef>
              <a:spcAft>
                <a:spcPts val="0"/>
              </a:spcAft>
              <a:buSzPts val="1200"/>
              <a:buChar char="●"/>
              <a:defRPr sz="1200"/>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142.251.167.91" TargetMode="External"/><Relationship Id="rId4" Type="http://schemas.openxmlformats.org/officeDocument/2006/relationships/hyperlink" Target="https://142.251.167.92" TargetMode="External"/><Relationship Id="rId5" Type="http://schemas.openxmlformats.org/officeDocument/2006/relationships/hyperlink" Target="http://151.101.117.16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kb.leaseweb.com/products/hosting/domain-name/domain-name-system-dns"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en.wikipedia.org/wiki/Root_name_serve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digitalocean.com/community/tutorials/an-introduction-to-dns-terminology-components-and-concept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mains.google.com/registrar/?pli=1" TargetMode="External"/><Relationship Id="rId4" Type="http://schemas.openxmlformats.org/officeDocument/2006/relationships/hyperlink" Target="https://console.cloud.google.com/net-services/dns/zones?project=cloudcomputingcourse-380619" TargetMode="External"/><Relationship Id="rId5" Type="http://schemas.openxmlformats.org/officeDocument/2006/relationships/hyperlink" Target="https://account.squarespace.com/domains/managed/lexingtonsolar.org/dns/dns-settings" TargetMode="External"/><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en.wikipedia.org/wiki/Advanced_Encryption_Standar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en.wikipedia.org/wiki/Diffie%E2%80%93Hellman_key_exchange" TargetMode="Externa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storage.googleapis.com/pub-tools-public-publication-data/pdf/8b935debf13bd176a08326738f5f88ad115a071e.pd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preprints.org/manuscript/202504.0245" TargetMode="External"/><Relationship Id="rId4" Type="http://schemas.openxmlformats.org/officeDocument/2006/relationships/hyperlink" Target="https://modelcontextprotocol.io/specification/2025-06-18/" TargetMode="External"/><Relationship Id="rId5" Type="http://schemas.openxmlformats.org/officeDocument/2006/relationships/image" Target="../media/image3.png"/><Relationship Id="rId6"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learn.microsoft.com/api/mcp"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piazza.com/class/mkctevprups13o/post/15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100900" cy="1930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Networking -- </a:t>
            </a:r>
            <a:br>
              <a:rPr lang="en"/>
            </a:br>
            <a:r>
              <a:rPr lang="en"/>
              <a:t>DNS, SSL, HTTP and MCP</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Leonidas Kontothanassis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Let’s access a website</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Arial"/>
              <a:buChar char="●"/>
            </a:pPr>
            <a:r>
              <a:rPr lang="en" sz="1800" u="sng">
                <a:solidFill>
                  <a:schemeClr val="hlink"/>
                </a:solidFill>
                <a:latin typeface="Arial"/>
                <a:ea typeface="Arial"/>
                <a:cs typeface="Arial"/>
                <a:sym typeface="Arial"/>
                <a:hlinkClick r:id="rId3"/>
              </a:rPr>
              <a:t>http://142.251.167.91</a:t>
            </a:r>
            <a:r>
              <a:rPr lang="en" sz="1800">
                <a:latin typeface="Arial"/>
                <a:ea typeface="Arial"/>
                <a:cs typeface="Arial"/>
                <a:sym typeface="Arial"/>
              </a:rPr>
              <a:t> (www.google.com)</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Small digression (Chrome developer tools)</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How about this one </a:t>
            </a:r>
            <a:r>
              <a:rPr lang="en" sz="1800" u="sng">
                <a:solidFill>
                  <a:schemeClr val="hlink"/>
                </a:solidFill>
                <a:latin typeface="Arial"/>
                <a:ea typeface="Arial"/>
                <a:cs typeface="Arial"/>
                <a:sym typeface="Arial"/>
                <a:hlinkClick r:id="rId4"/>
              </a:rPr>
              <a:t>https://142.251.167.92</a:t>
            </a:r>
            <a:r>
              <a:rPr lang="en" sz="1800">
                <a:latin typeface="Arial"/>
                <a:ea typeface="Arial"/>
                <a:cs typeface="Arial"/>
                <a:sym typeface="Arial"/>
              </a:rPr>
              <a:t>? (www.youtube.com)</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How about this one: </a:t>
            </a:r>
            <a:r>
              <a:rPr lang="en" sz="1800" u="sng">
                <a:solidFill>
                  <a:schemeClr val="hlink"/>
                </a:solidFill>
                <a:latin typeface="Arial"/>
                <a:ea typeface="Arial"/>
                <a:cs typeface="Arial"/>
                <a:sym typeface="Arial"/>
                <a:hlinkClick r:id="rId5"/>
              </a:rPr>
              <a:t>http://151.101.117.164/</a:t>
            </a:r>
            <a:r>
              <a:rPr lang="en" sz="1800">
                <a:latin typeface="Arial"/>
                <a:ea typeface="Arial"/>
                <a:cs typeface="Arial"/>
                <a:sym typeface="Arial"/>
              </a:rPr>
              <a:t> (www.nytimes.com)</a:t>
            </a:r>
            <a:endParaRPr sz="1800">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Why doesn’t it work?</a:t>
            </a:r>
            <a:endParaRPr sz="1800">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Domain Name System (DNS)</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A widely distributed collection of databases that translate between names and IP addresses</a:t>
            </a:r>
            <a:endParaRPr/>
          </a:p>
          <a:p>
            <a:pPr indent="-381000" lvl="0" marL="457200" rtl="0" algn="l">
              <a:spcBef>
                <a:spcPts val="0"/>
              </a:spcBef>
              <a:spcAft>
                <a:spcPts val="0"/>
              </a:spcAft>
              <a:buSzPts val="2400"/>
              <a:buChar char="●"/>
            </a:pPr>
            <a:r>
              <a:rPr lang="en"/>
              <a:t>A protocol for talking to those databases</a:t>
            </a:r>
            <a:endParaRPr/>
          </a:p>
          <a:p>
            <a:pPr indent="-381000" lvl="0" marL="457200" rtl="0" algn="l">
              <a:spcBef>
                <a:spcPts val="0"/>
              </a:spcBef>
              <a:spcAft>
                <a:spcPts val="0"/>
              </a:spcAft>
              <a:buSzPts val="2400"/>
              <a:buChar char="●"/>
            </a:pPr>
            <a:r>
              <a:rPr lang="en"/>
              <a:t>A schema for inserting/deleting/updating these databases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DNS Hierarchy</a:t>
            </a:r>
            <a:endParaRPr/>
          </a:p>
        </p:txBody>
      </p:sp>
      <p:pic>
        <p:nvPicPr>
          <p:cNvPr id="153" name="Google Shape;153;p16">
            <a:hlinkClick r:id="rId3"/>
          </p:cNvPr>
          <p:cNvPicPr preferRelativeResize="0"/>
          <p:nvPr/>
        </p:nvPicPr>
        <p:blipFill>
          <a:blip r:embed="rId4">
            <a:alphaModFix/>
          </a:blip>
          <a:stretch>
            <a:fillRect/>
          </a:stretch>
        </p:blipFill>
        <p:spPr>
          <a:xfrm>
            <a:off x="2052976" y="1064875"/>
            <a:ext cx="5038051" cy="39448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DNS Definitions</a:t>
            </a:r>
            <a:endParaRPr/>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0000" lnSpcReduction="20000"/>
          </a:bodyPr>
          <a:lstStyle/>
          <a:p>
            <a:pPr indent="-335280" lvl="0" marL="457200" rtl="0" algn="l">
              <a:spcBef>
                <a:spcPts val="0"/>
              </a:spcBef>
              <a:spcAft>
                <a:spcPts val="0"/>
              </a:spcAft>
              <a:buSzPct val="100000"/>
              <a:buChar char="●"/>
            </a:pPr>
            <a:r>
              <a:rPr lang="en"/>
              <a:t>Client resolver</a:t>
            </a:r>
            <a:endParaRPr/>
          </a:p>
          <a:p>
            <a:pPr indent="-308610" lvl="1" marL="914400" rtl="0" algn="l">
              <a:spcBef>
                <a:spcPts val="0"/>
              </a:spcBef>
              <a:spcAft>
                <a:spcPts val="0"/>
              </a:spcAft>
              <a:buSzPct val="100000"/>
              <a:buChar char="○"/>
            </a:pPr>
            <a:r>
              <a:rPr lang="en"/>
              <a:t>Local library that interacts with name servers</a:t>
            </a:r>
            <a:endParaRPr/>
          </a:p>
          <a:p>
            <a:pPr indent="-335280" lvl="0" marL="457200" rtl="0" algn="l">
              <a:spcBef>
                <a:spcPts val="0"/>
              </a:spcBef>
              <a:spcAft>
                <a:spcPts val="0"/>
              </a:spcAft>
              <a:buSzPct val="100000"/>
              <a:buChar char="●"/>
            </a:pPr>
            <a:r>
              <a:rPr lang="en"/>
              <a:t>Recursive nameserver</a:t>
            </a:r>
            <a:endParaRPr/>
          </a:p>
          <a:p>
            <a:pPr indent="-308610" lvl="1" marL="914400" rtl="0" algn="l">
              <a:spcBef>
                <a:spcPts val="0"/>
              </a:spcBef>
              <a:spcAft>
                <a:spcPts val="0"/>
              </a:spcAft>
              <a:buSzPct val="100000"/>
              <a:buChar char="○"/>
            </a:pPr>
            <a:r>
              <a:rPr lang="en"/>
              <a:t>A nameserver that doesn’t know the answer but knows who to ask.  May cache the results</a:t>
            </a:r>
            <a:endParaRPr/>
          </a:p>
          <a:p>
            <a:pPr indent="-335280" lvl="0" marL="457200" rtl="0" algn="l">
              <a:spcBef>
                <a:spcPts val="0"/>
              </a:spcBef>
              <a:spcAft>
                <a:spcPts val="0"/>
              </a:spcAft>
              <a:buSzPct val="100000"/>
              <a:buChar char="●"/>
            </a:pPr>
            <a:r>
              <a:rPr lang="en"/>
              <a:t>Authoritative nameserver</a:t>
            </a:r>
            <a:endParaRPr/>
          </a:p>
          <a:p>
            <a:pPr indent="-308610" lvl="1" marL="914400" rtl="0" algn="l">
              <a:spcBef>
                <a:spcPts val="0"/>
              </a:spcBef>
              <a:spcAft>
                <a:spcPts val="0"/>
              </a:spcAft>
              <a:buSzPct val="100000"/>
              <a:buChar char="○"/>
            </a:pPr>
            <a:r>
              <a:rPr lang="en"/>
              <a:t>A nameserver that knows the answer to a particular domain</a:t>
            </a:r>
            <a:endParaRPr/>
          </a:p>
          <a:p>
            <a:pPr indent="-335280" lvl="0" marL="457200" rtl="0" algn="l">
              <a:spcBef>
                <a:spcPts val="0"/>
              </a:spcBef>
              <a:spcAft>
                <a:spcPts val="0"/>
              </a:spcAft>
              <a:buSzPct val="100000"/>
              <a:buChar char="●"/>
            </a:pPr>
            <a:r>
              <a:rPr lang="en"/>
              <a:t>Root name server</a:t>
            </a:r>
            <a:endParaRPr/>
          </a:p>
          <a:p>
            <a:pPr indent="-308610" lvl="1" marL="914400" rtl="0" algn="l">
              <a:spcBef>
                <a:spcPts val="0"/>
              </a:spcBef>
              <a:spcAft>
                <a:spcPts val="0"/>
              </a:spcAft>
              <a:buSzPct val="100000"/>
              <a:buChar char="○"/>
            </a:pPr>
            <a:r>
              <a:rPr lang="en" u="sng">
                <a:solidFill>
                  <a:schemeClr val="hlink"/>
                </a:solidFill>
                <a:hlinkClick r:id="rId3"/>
              </a:rPr>
              <a:t>Key 13 name servers</a:t>
            </a:r>
            <a:r>
              <a:rPr lang="en"/>
              <a:t> that are known to everyone and know about top level domains (i.e. .com, .net, .edu, .org etc).</a:t>
            </a:r>
            <a:endParaRPr/>
          </a:p>
          <a:p>
            <a:pPr indent="-308610" lvl="1" marL="914400" rtl="0" algn="l">
              <a:spcBef>
                <a:spcPts val="0"/>
              </a:spcBef>
              <a:spcAft>
                <a:spcPts val="0"/>
              </a:spcAft>
              <a:buSzPct val="100000"/>
              <a:buChar char="○"/>
            </a:pPr>
            <a:r>
              <a:rPr lang="en"/>
              <a:t>Use anycast to scale</a:t>
            </a:r>
            <a:endParaRPr/>
          </a:p>
          <a:p>
            <a:pPr indent="-335280" lvl="0" marL="457200" rtl="0" algn="l">
              <a:spcBef>
                <a:spcPts val="0"/>
              </a:spcBef>
              <a:spcAft>
                <a:spcPts val="0"/>
              </a:spcAft>
              <a:buSzPct val="100000"/>
              <a:buChar char="●"/>
            </a:pPr>
            <a:r>
              <a:rPr lang="en"/>
              <a:t>TLD name server</a:t>
            </a:r>
            <a:endParaRPr/>
          </a:p>
          <a:p>
            <a:pPr indent="-308610" lvl="1" marL="914400" rtl="0" algn="l">
              <a:spcBef>
                <a:spcPts val="0"/>
              </a:spcBef>
              <a:spcAft>
                <a:spcPts val="0"/>
              </a:spcAft>
              <a:buSzPct val="100000"/>
              <a:buChar char="○"/>
            </a:pPr>
            <a:r>
              <a:rPr lang="en"/>
              <a:t>Name servers handling resolution under .com, .net, .edu, .org etc.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Anycast (Digression)</a:t>
            </a:r>
            <a:endParaRPr/>
          </a:p>
        </p:txBody>
      </p:sp>
      <p:sp>
        <p:nvSpPr>
          <p:cNvPr id="165" name="Google Shape;165;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Use BGP to advertise same IP from many places</a:t>
            </a:r>
            <a:endParaRPr/>
          </a:p>
          <a:p>
            <a:pPr indent="-381000" lvl="0" marL="457200" rtl="0" algn="l">
              <a:spcBef>
                <a:spcPts val="0"/>
              </a:spcBef>
              <a:spcAft>
                <a:spcPts val="0"/>
              </a:spcAft>
              <a:buSzPts val="2400"/>
              <a:buChar char="●"/>
            </a:pPr>
            <a:r>
              <a:rPr lang="en"/>
              <a:t>BGP picks closest location to route requests to</a:t>
            </a:r>
            <a:endParaRPr/>
          </a:p>
          <a:p>
            <a:pPr indent="-381000" lvl="0" marL="457200" rtl="0" algn="l">
              <a:spcBef>
                <a:spcPts val="0"/>
              </a:spcBef>
              <a:spcAft>
                <a:spcPts val="0"/>
              </a:spcAft>
              <a:buSzPts val="2400"/>
              <a:buChar char="●"/>
            </a:pPr>
            <a:r>
              <a:rPr lang="en"/>
              <a:t>Works great for single packet request/response</a:t>
            </a:r>
            <a:endParaRPr/>
          </a:p>
          <a:p>
            <a:pPr indent="-381000" lvl="0" marL="457200" rtl="0" algn="l">
              <a:spcBef>
                <a:spcPts val="0"/>
              </a:spcBef>
              <a:spcAft>
                <a:spcPts val="0"/>
              </a:spcAft>
              <a:buSzPts val="2400"/>
              <a:buChar char="●"/>
            </a:pPr>
            <a:r>
              <a:rPr lang="en"/>
              <a:t>Can work pretty well for multi-packet communication</a:t>
            </a:r>
            <a:endParaRPr/>
          </a:p>
          <a:p>
            <a:pPr indent="-381000" lvl="0" marL="457200" rtl="0" algn="l">
              <a:spcBef>
                <a:spcPts val="0"/>
              </a:spcBef>
              <a:spcAft>
                <a:spcPts val="0"/>
              </a:spcAft>
              <a:buSzPts val="2400"/>
              <a:buChar char="●"/>
            </a:pPr>
            <a:r>
              <a:rPr lang="en"/>
              <a:t>Stable anycast is an option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DNS definitions</a:t>
            </a:r>
            <a:endParaRPr/>
          </a:p>
        </p:txBody>
      </p:sp>
      <p:sp>
        <p:nvSpPr>
          <p:cNvPr id="171" name="Google Shape;171;p19"/>
          <p:cNvSpPr txBox="1"/>
          <p:nvPr>
            <p:ph idx="1" type="body"/>
          </p:nvPr>
        </p:nvSpPr>
        <p:spPr>
          <a:xfrm>
            <a:off x="1297500" y="1586375"/>
            <a:ext cx="7038900" cy="2911200"/>
          </a:xfrm>
          <a:prstGeom prst="rect">
            <a:avLst/>
          </a:prstGeom>
        </p:spPr>
        <p:txBody>
          <a:bodyPr anchorCtr="0" anchor="t" bIns="91425" lIns="91425" spcFirstLastPara="1" rIns="91425" wrap="square" tIns="91425">
            <a:normAutofit fontScale="85000" lnSpcReduction="10000"/>
          </a:bodyPr>
          <a:lstStyle/>
          <a:p>
            <a:pPr indent="-358140" lvl="0" marL="457200" rtl="0" algn="l">
              <a:spcBef>
                <a:spcPts val="0"/>
              </a:spcBef>
              <a:spcAft>
                <a:spcPts val="0"/>
              </a:spcAft>
              <a:buSzPct val="100000"/>
              <a:buChar char="●"/>
            </a:pPr>
            <a:r>
              <a:rPr lang="en"/>
              <a:t>Domain name server</a:t>
            </a:r>
            <a:endParaRPr/>
          </a:p>
          <a:p>
            <a:pPr indent="-325755" lvl="1" marL="914400" rtl="0" algn="l">
              <a:spcBef>
                <a:spcPts val="0"/>
              </a:spcBef>
              <a:spcAft>
                <a:spcPts val="0"/>
              </a:spcAft>
              <a:buSzPct val="100000"/>
              <a:buChar char="○"/>
            </a:pPr>
            <a:r>
              <a:rPr lang="en"/>
              <a:t>One that can answer what is the IP of a particular host in that domain</a:t>
            </a:r>
            <a:endParaRPr/>
          </a:p>
          <a:p>
            <a:pPr indent="-358140" lvl="0" marL="457200" rtl="0" algn="l">
              <a:spcBef>
                <a:spcPts val="0"/>
              </a:spcBef>
              <a:spcAft>
                <a:spcPts val="0"/>
              </a:spcAft>
              <a:buSzPct val="100000"/>
              <a:buChar char="●"/>
            </a:pPr>
            <a:r>
              <a:rPr lang="en"/>
              <a:t>Load balancing name server</a:t>
            </a:r>
            <a:endParaRPr/>
          </a:p>
          <a:p>
            <a:pPr indent="-325755" lvl="1" marL="914400" rtl="0" algn="l">
              <a:spcBef>
                <a:spcPts val="0"/>
              </a:spcBef>
              <a:spcAft>
                <a:spcPts val="0"/>
              </a:spcAft>
              <a:buSzPct val="100000"/>
              <a:buChar char="○"/>
            </a:pPr>
            <a:r>
              <a:rPr lang="en"/>
              <a:t>One that can provide a different answer based on who is asking and load conditions on the actual content serving hosts</a:t>
            </a:r>
            <a:endParaRPr/>
          </a:p>
          <a:p>
            <a:pPr indent="-358140" lvl="0" marL="457200" rtl="0" algn="l">
              <a:spcBef>
                <a:spcPts val="0"/>
              </a:spcBef>
              <a:spcAft>
                <a:spcPts val="0"/>
              </a:spcAft>
              <a:buSzPct val="100000"/>
              <a:buChar char="●"/>
            </a:pPr>
            <a:r>
              <a:rPr lang="en"/>
              <a:t>Zone file</a:t>
            </a:r>
            <a:endParaRPr/>
          </a:p>
          <a:p>
            <a:pPr indent="-325755" lvl="1" marL="914400" rtl="0" algn="l">
              <a:spcBef>
                <a:spcPts val="0"/>
              </a:spcBef>
              <a:spcAft>
                <a:spcPts val="0"/>
              </a:spcAft>
              <a:buSzPct val="100000"/>
              <a:buChar char="○"/>
            </a:pPr>
            <a:r>
              <a:rPr lang="en"/>
              <a:t>A file containing the mappings between names and IP addresses</a:t>
            </a:r>
            <a:endParaRPr/>
          </a:p>
          <a:p>
            <a:pPr indent="-358140" lvl="0" marL="457200" rtl="0" algn="l">
              <a:spcBef>
                <a:spcPts val="0"/>
              </a:spcBef>
              <a:spcAft>
                <a:spcPts val="0"/>
              </a:spcAft>
              <a:buSzPct val="100000"/>
              <a:buChar char="●"/>
            </a:pPr>
            <a:r>
              <a:rPr lang="en"/>
              <a:t>TTL</a:t>
            </a:r>
            <a:endParaRPr/>
          </a:p>
          <a:p>
            <a:pPr indent="-325755" lvl="1" marL="914400" rtl="0" algn="l">
              <a:spcBef>
                <a:spcPts val="0"/>
              </a:spcBef>
              <a:spcAft>
                <a:spcPts val="0"/>
              </a:spcAft>
              <a:buSzPct val="100000"/>
              <a:buChar char="○"/>
            </a:pPr>
            <a:r>
              <a:rPr lang="en"/>
              <a:t>An indicator on how long the answer is valid for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DNS Records</a:t>
            </a:r>
            <a:endParaRPr/>
          </a:p>
        </p:txBody>
      </p:sp>
      <p:sp>
        <p:nvSpPr>
          <p:cNvPr id="177" name="Google Shape;177;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40000"/>
          </a:bodyPr>
          <a:lstStyle/>
          <a:p>
            <a:pPr indent="-289560" lvl="0" marL="457200" rtl="0" algn="l">
              <a:spcBef>
                <a:spcPts val="0"/>
              </a:spcBef>
              <a:spcAft>
                <a:spcPts val="0"/>
              </a:spcAft>
              <a:buSzPct val="100000"/>
              <a:buChar char="●"/>
            </a:pPr>
            <a:r>
              <a:rPr lang="en"/>
              <a:t>SOA record (Start of Authority)</a:t>
            </a:r>
            <a:endParaRPr/>
          </a:p>
          <a:p>
            <a:pPr indent="-274320" lvl="1" marL="914400" rtl="0" algn="l">
              <a:spcBef>
                <a:spcPts val="0"/>
              </a:spcBef>
              <a:spcAft>
                <a:spcPts val="0"/>
              </a:spcAft>
              <a:buSzPct val="100000"/>
              <a:buChar char="○"/>
            </a:pPr>
            <a:r>
              <a:rPr lang="en"/>
              <a:t>Metadata about the zone file and records that follow</a:t>
            </a:r>
            <a:endParaRPr/>
          </a:p>
          <a:p>
            <a:pPr indent="-289560" lvl="0" marL="457200" rtl="0" algn="l">
              <a:spcBef>
                <a:spcPts val="0"/>
              </a:spcBef>
              <a:spcAft>
                <a:spcPts val="0"/>
              </a:spcAft>
              <a:buSzPct val="100000"/>
              <a:buChar char="●"/>
            </a:pPr>
            <a:r>
              <a:rPr lang="en"/>
              <a:t>A and AAAA records</a:t>
            </a:r>
            <a:endParaRPr/>
          </a:p>
          <a:p>
            <a:pPr indent="-274320" lvl="1" marL="914400" rtl="0" algn="l">
              <a:spcBef>
                <a:spcPts val="0"/>
              </a:spcBef>
              <a:spcAft>
                <a:spcPts val="0"/>
              </a:spcAft>
              <a:buSzPct val="100000"/>
              <a:buChar char="○"/>
            </a:pPr>
            <a:r>
              <a:rPr lang="en"/>
              <a:t>Actual IP resolutions</a:t>
            </a:r>
            <a:endParaRPr/>
          </a:p>
          <a:p>
            <a:pPr indent="-289560" lvl="0" marL="457200" rtl="0" algn="l">
              <a:spcBef>
                <a:spcPts val="0"/>
              </a:spcBef>
              <a:spcAft>
                <a:spcPts val="0"/>
              </a:spcAft>
              <a:buSzPct val="100000"/>
              <a:buChar char="●"/>
            </a:pPr>
            <a:r>
              <a:rPr lang="en"/>
              <a:t>CNAME records</a:t>
            </a:r>
            <a:endParaRPr/>
          </a:p>
          <a:p>
            <a:pPr indent="-274320" lvl="1" marL="914400" rtl="0" algn="l">
              <a:spcBef>
                <a:spcPts val="0"/>
              </a:spcBef>
              <a:spcAft>
                <a:spcPts val="0"/>
              </a:spcAft>
              <a:buSzPct val="100000"/>
              <a:buChar char="○"/>
            </a:pPr>
            <a:r>
              <a:rPr lang="en"/>
              <a:t>A new domain name that is an alias to the question</a:t>
            </a:r>
            <a:endParaRPr/>
          </a:p>
          <a:p>
            <a:pPr indent="-289560" lvl="0" marL="457200" rtl="0" algn="l">
              <a:spcBef>
                <a:spcPts val="0"/>
              </a:spcBef>
              <a:spcAft>
                <a:spcPts val="0"/>
              </a:spcAft>
              <a:buSzPct val="100000"/>
              <a:buChar char="●"/>
            </a:pPr>
            <a:r>
              <a:rPr lang="en"/>
              <a:t>MX records</a:t>
            </a:r>
            <a:endParaRPr/>
          </a:p>
          <a:p>
            <a:pPr indent="-274320" lvl="1" marL="914400" rtl="0" algn="l">
              <a:spcBef>
                <a:spcPts val="0"/>
              </a:spcBef>
              <a:spcAft>
                <a:spcPts val="0"/>
              </a:spcAft>
              <a:buSzPct val="100000"/>
              <a:buChar char="○"/>
            </a:pPr>
            <a:r>
              <a:rPr lang="en"/>
              <a:t>Provide the names of the mail servers for the domain</a:t>
            </a:r>
            <a:endParaRPr/>
          </a:p>
          <a:p>
            <a:pPr indent="-289560" lvl="0" marL="457200" rtl="0" algn="l">
              <a:spcBef>
                <a:spcPts val="0"/>
              </a:spcBef>
              <a:spcAft>
                <a:spcPts val="0"/>
              </a:spcAft>
              <a:buSzPct val="100000"/>
              <a:buChar char="●"/>
            </a:pPr>
            <a:r>
              <a:rPr lang="en"/>
              <a:t>NS records	</a:t>
            </a:r>
            <a:endParaRPr/>
          </a:p>
          <a:p>
            <a:pPr indent="-274320" lvl="1" marL="914400" rtl="0" algn="l">
              <a:spcBef>
                <a:spcPts val="0"/>
              </a:spcBef>
              <a:spcAft>
                <a:spcPts val="0"/>
              </a:spcAft>
              <a:buSzPct val="100000"/>
              <a:buChar char="○"/>
            </a:pPr>
            <a:r>
              <a:rPr lang="en"/>
              <a:t>Names and IP addresses of the name servers for the domain</a:t>
            </a:r>
            <a:endParaRPr/>
          </a:p>
          <a:p>
            <a:pPr indent="-289560" lvl="0" marL="457200" rtl="0" algn="l">
              <a:spcBef>
                <a:spcPts val="0"/>
              </a:spcBef>
              <a:spcAft>
                <a:spcPts val="0"/>
              </a:spcAft>
              <a:buSzPct val="100000"/>
              <a:buChar char="●"/>
            </a:pPr>
            <a:r>
              <a:rPr lang="en"/>
              <a:t>PTR records</a:t>
            </a:r>
            <a:endParaRPr/>
          </a:p>
          <a:p>
            <a:pPr indent="-274320" lvl="1" marL="914400" rtl="0" algn="l">
              <a:spcBef>
                <a:spcPts val="0"/>
              </a:spcBef>
              <a:spcAft>
                <a:spcPts val="0"/>
              </a:spcAft>
              <a:buSzPct val="100000"/>
              <a:buChar char="○"/>
            </a:pPr>
            <a:r>
              <a:rPr lang="en"/>
              <a:t>Used for reverse resolutions</a:t>
            </a:r>
            <a:endParaRPr/>
          </a:p>
          <a:p>
            <a:pPr indent="-289560" lvl="0" marL="457200" rtl="0" algn="l">
              <a:spcBef>
                <a:spcPts val="0"/>
              </a:spcBef>
              <a:spcAft>
                <a:spcPts val="0"/>
              </a:spcAft>
              <a:buSzPct val="100000"/>
              <a:buChar char="●"/>
            </a:pPr>
            <a:r>
              <a:rPr lang="en"/>
              <a:t>TXT records</a:t>
            </a:r>
            <a:endParaRPr/>
          </a:p>
          <a:p>
            <a:pPr indent="-274320" lvl="1" marL="914400" rtl="0" algn="l">
              <a:spcBef>
                <a:spcPts val="0"/>
              </a:spcBef>
              <a:spcAft>
                <a:spcPts val="0"/>
              </a:spcAft>
              <a:buSzPct val="100000"/>
              <a:buChar char="○"/>
            </a:pPr>
            <a:r>
              <a:rPr lang="en"/>
              <a:t>Any string you want to associated with a host name</a:t>
            </a:r>
            <a:endParaRPr/>
          </a:p>
          <a:p>
            <a:pPr indent="-289560" lvl="0" marL="457200" rtl="0" algn="l">
              <a:spcBef>
                <a:spcPts val="0"/>
              </a:spcBef>
              <a:spcAft>
                <a:spcPts val="0"/>
              </a:spcAft>
              <a:buSzPct val="100000"/>
              <a:buChar char="●"/>
            </a:pPr>
            <a:r>
              <a:rPr lang="en"/>
              <a:t>CAA records</a:t>
            </a:r>
            <a:endParaRPr/>
          </a:p>
          <a:p>
            <a:pPr indent="-274320" lvl="1" marL="914400" rtl="0" algn="l">
              <a:spcBef>
                <a:spcPts val="0"/>
              </a:spcBef>
              <a:spcAft>
                <a:spcPts val="0"/>
              </a:spcAft>
              <a:buSzPct val="100000"/>
              <a:buChar char="○"/>
            </a:pPr>
            <a:r>
              <a:rPr lang="en"/>
              <a:t>Names of cert authorities issuing certs for the domain</a:t>
            </a:r>
            <a:endParaRPr/>
          </a:p>
          <a:p>
            <a:pPr indent="-289560" lvl="0" marL="457200" rtl="0" algn="l">
              <a:spcBef>
                <a:spcPts val="0"/>
              </a:spcBef>
              <a:spcAft>
                <a:spcPts val="0"/>
              </a:spcAft>
              <a:buSzPct val="100000"/>
              <a:buChar char="●"/>
            </a:pPr>
            <a:r>
              <a:rPr lang="en"/>
              <a:t>Nice overview at </a:t>
            </a:r>
            <a:r>
              <a:rPr lang="en" u="sng">
                <a:solidFill>
                  <a:schemeClr val="hlink"/>
                </a:solidFill>
                <a:hlinkClick r:id="rId3"/>
              </a:rPr>
              <a:t>https://www.digitalocean.com/community/tutorials/an-introduction-to-dns-terminology-components-and-concepts</a:t>
            </a:r>
            <a:r>
              <a:rPr lang="en"/>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dig tool</a:t>
            </a:r>
            <a:endParaRPr/>
          </a:p>
        </p:txBody>
      </p:sp>
      <p:sp>
        <p:nvSpPr>
          <p:cNvPr id="183" name="Google Shape;183;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d</a:t>
            </a:r>
            <a:r>
              <a:rPr lang="en"/>
              <a:t>ig name</a:t>
            </a:r>
            <a:endParaRPr/>
          </a:p>
          <a:p>
            <a:pPr indent="-381000" lvl="0" marL="457200" rtl="0" algn="l">
              <a:spcBef>
                <a:spcPts val="0"/>
              </a:spcBef>
              <a:spcAft>
                <a:spcPts val="0"/>
              </a:spcAft>
              <a:buSzPts val="2400"/>
              <a:buChar char="●"/>
            </a:pPr>
            <a:r>
              <a:rPr lang="en"/>
              <a:t>d</a:t>
            </a:r>
            <a:r>
              <a:rPr lang="en"/>
              <a:t>ig ns name</a:t>
            </a:r>
            <a:endParaRPr/>
          </a:p>
          <a:p>
            <a:pPr indent="-381000" lvl="0" marL="457200" rtl="0" algn="l">
              <a:spcBef>
                <a:spcPts val="0"/>
              </a:spcBef>
              <a:spcAft>
                <a:spcPts val="0"/>
              </a:spcAft>
              <a:buSzPts val="2400"/>
              <a:buChar char="●"/>
            </a:pPr>
            <a:r>
              <a:rPr lang="en"/>
              <a:t>Available in your cloud shell</a:t>
            </a:r>
            <a:endParaRPr/>
          </a:p>
          <a:p>
            <a:pPr indent="-381000" lvl="0" marL="457200" rtl="0" algn="l">
              <a:spcBef>
                <a:spcPts val="0"/>
              </a:spcBef>
              <a:spcAft>
                <a:spcPts val="0"/>
              </a:spcAft>
              <a:buSzPts val="2400"/>
              <a:buChar char="●"/>
            </a:pPr>
            <a:r>
              <a:rPr lang="en"/>
              <a:t>d</a:t>
            </a:r>
            <a:r>
              <a:rPr lang="en"/>
              <a:t>ig --help or man dig for details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Setting up DNS on GCP</a:t>
            </a:r>
            <a:endParaRPr/>
          </a:p>
        </p:txBody>
      </p:sp>
      <p:sp>
        <p:nvSpPr>
          <p:cNvPr id="189" name="Google Shape;189;p22"/>
          <p:cNvSpPr txBox="1"/>
          <p:nvPr>
            <p:ph idx="1" type="body"/>
          </p:nvPr>
        </p:nvSpPr>
        <p:spPr>
          <a:xfrm>
            <a:off x="475350" y="1535550"/>
            <a:ext cx="25497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u="sng">
                <a:solidFill>
                  <a:schemeClr val="hlink"/>
                </a:solidFill>
                <a:hlinkClick r:id="rId3"/>
              </a:rPr>
              <a:t>Setting up a domain</a:t>
            </a:r>
            <a:endParaRPr/>
          </a:p>
          <a:p>
            <a:pPr indent="-381000" lvl="0" marL="457200" rtl="0" algn="l">
              <a:spcBef>
                <a:spcPts val="0"/>
              </a:spcBef>
              <a:spcAft>
                <a:spcPts val="0"/>
              </a:spcAft>
              <a:buSzPts val="2400"/>
              <a:buChar char="●"/>
            </a:pPr>
            <a:r>
              <a:rPr lang="en" u="sng">
                <a:solidFill>
                  <a:schemeClr val="hlink"/>
                </a:solidFill>
                <a:hlinkClick r:id="rId4"/>
              </a:rPr>
              <a:t>Console for setting up DNS</a:t>
            </a:r>
            <a:endParaRPr/>
          </a:p>
        </p:txBody>
      </p:sp>
      <p:pic>
        <p:nvPicPr>
          <p:cNvPr id="190" name="Google Shape;190;p22" title="Screenshot 2026-04-05 at 10.54.17 AM.png">
            <a:hlinkClick r:id="rId5"/>
          </p:cNvPr>
          <p:cNvPicPr preferRelativeResize="0"/>
          <p:nvPr/>
        </p:nvPicPr>
        <p:blipFill rotWithShape="1">
          <a:blip r:embed="rId6">
            <a:alphaModFix/>
          </a:blip>
          <a:srcRect b="5893" l="0" r="0" t="5884"/>
          <a:stretch/>
        </p:blipFill>
        <p:spPr>
          <a:xfrm>
            <a:off x="2930850" y="1648525"/>
            <a:ext cx="5908354" cy="3121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Secure Socket Layer and</a:t>
            </a:r>
            <a:br>
              <a:rPr lang="en"/>
            </a:br>
            <a:r>
              <a:rPr lang="en"/>
              <a:t>Transport Layer Security (SSL/TLS)</a:t>
            </a:r>
            <a:endParaRPr/>
          </a:p>
        </p:txBody>
      </p:sp>
      <p:sp>
        <p:nvSpPr>
          <p:cNvPr id="196" name="Google Shape;196;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a:t>The golden standard for encrypting public communications.  Must provide</a:t>
            </a:r>
            <a:endParaRPr/>
          </a:p>
          <a:p>
            <a:pPr indent="-342900" lvl="1" marL="914400" rtl="0" algn="l">
              <a:spcBef>
                <a:spcPts val="0"/>
              </a:spcBef>
              <a:spcAft>
                <a:spcPts val="0"/>
              </a:spcAft>
              <a:buSzPts val="1800"/>
              <a:buChar char="○"/>
            </a:pPr>
            <a:r>
              <a:rPr lang="en"/>
              <a:t>Encryption: Hide the content of messages</a:t>
            </a:r>
            <a:endParaRPr/>
          </a:p>
          <a:p>
            <a:pPr indent="-342900" lvl="1" marL="914400" rtl="0" algn="l">
              <a:spcBef>
                <a:spcPts val="0"/>
              </a:spcBef>
              <a:spcAft>
                <a:spcPts val="0"/>
              </a:spcAft>
              <a:buSzPts val="1800"/>
              <a:buChar char="○"/>
            </a:pPr>
            <a:r>
              <a:rPr lang="en"/>
              <a:t>Integrity: Make sure no-one can tamper with message</a:t>
            </a:r>
            <a:endParaRPr/>
          </a:p>
          <a:p>
            <a:pPr indent="-342900" lvl="1" marL="914400" rtl="0" algn="l">
              <a:spcBef>
                <a:spcPts val="0"/>
              </a:spcBef>
              <a:spcAft>
                <a:spcPts val="0"/>
              </a:spcAft>
              <a:buSzPts val="1800"/>
              <a:buChar char="○"/>
            </a:pPr>
            <a:r>
              <a:rPr lang="en"/>
              <a:t>Authentication: ensure the participants are who they say they are</a:t>
            </a:r>
            <a:endParaRPr/>
          </a:p>
          <a:p>
            <a:pPr indent="-381000" lvl="0" marL="457200" rtl="0" algn="l">
              <a:spcBef>
                <a:spcPts val="0"/>
              </a:spcBef>
              <a:spcAft>
                <a:spcPts val="0"/>
              </a:spcAft>
              <a:buSzPts val="2400"/>
              <a:buChar char="●"/>
            </a:pPr>
            <a:r>
              <a:rPr lang="en"/>
              <a:t>SSL is now deprecated in favor of TLS which stands at version TLS 1.3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Encryption and Integrity</a:t>
            </a:r>
            <a:endParaRPr/>
          </a:p>
        </p:txBody>
      </p:sp>
      <p:sp>
        <p:nvSpPr>
          <p:cNvPr id="202" name="Google Shape;202;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20000"/>
          </a:bodyPr>
          <a:lstStyle/>
          <a:p>
            <a:pPr indent="-358140" lvl="0" marL="457200" rtl="0" algn="l">
              <a:spcBef>
                <a:spcPts val="0"/>
              </a:spcBef>
              <a:spcAft>
                <a:spcPts val="0"/>
              </a:spcAft>
              <a:buSzPct val="100000"/>
              <a:buChar char="●"/>
            </a:pPr>
            <a:r>
              <a:rPr lang="en"/>
              <a:t>Integrity is relatively easy.  A checksum or other signature is added to the content before encryption.  Upon decryption it can be verified.</a:t>
            </a:r>
            <a:endParaRPr/>
          </a:p>
          <a:p>
            <a:pPr indent="-358140" lvl="0" marL="457200" rtl="0" algn="l">
              <a:spcBef>
                <a:spcPts val="0"/>
              </a:spcBef>
              <a:spcAft>
                <a:spcPts val="0"/>
              </a:spcAft>
              <a:buSzPct val="100000"/>
              <a:buChar char="●"/>
            </a:pPr>
            <a:r>
              <a:rPr lang="en"/>
              <a:t>Encryption typically uses Advanced Encryption Standard (</a:t>
            </a:r>
            <a:r>
              <a:rPr lang="en" u="sng">
                <a:solidFill>
                  <a:schemeClr val="hlink"/>
                </a:solidFill>
                <a:hlinkClick r:id="rId3"/>
              </a:rPr>
              <a:t>AES</a:t>
            </a:r>
            <a:r>
              <a:rPr lang="en"/>
              <a:t>) these days.</a:t>
            </a:r>
            <a:endParaRPr/>
          </a:p>
          <a:p>
            <a:pPr indent="-325755" lvl="1" marL="914400" rtl="0" algn="l">
              <a:spcBef>
                <a:spcPts val="0"/>
              </a:spcBef>
              <a:spcAft>
                <a:spcPts val="0"/>
              </a:spcAft>
              <a:buSzPct val="100000"/>
              <a:buChar char="○"/>
            </a:pPr>
            <a:r>
              <a:rPr lang="en"/>
              <a:t>Makes heavy use of xor, shifting, mixing and substitution operations.</a:t>
            </a:r>
            <a:endParaRPr/>
          </a:p>
          <a:p>
            <a:pPr indent="-325755" lvl="1" marL="914400" rtl="0" algn="l">
              <a:spcBef>
                <a:spcPts val="0"/>
              </a:spcBef>
              <a:spcAft>
                <a:spcPts val="0"/>
              </a:spcAft>
              <a:buSzPct val="100000"/>
              <a:buChar char="○"/>
            </a:pPr>
            <a:r>
              <a:rPr lang="en"/>
              <a:t>Relies on an agreed upon secret key.  Divides content into 16 bytes chunks and each chunk goes through 10-14 steps of the above operations to produce the final output.  A similar set of steps using the secret key can be used to decrypt the content.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Secret Key derivation</a:t>
            </a:r>
            <a:endParaRPr/>
          </a:p>
        </p:txBody>
      </p:sp>
      <p:sp>
        <p:nvSpPr>
          <p:cNvPr id="208" name="Google Shape;208;p25"/>
          <p:cNvSpPr txBox="1"/>
          <p:nvPr>
            <p:ph idx="1" type="body"/>
          </p:nvPr>
        </p:nvSpPr>
        <p:spPr>
          <a:xfrm>
            <a:off x="992525" y="1567550"/>
            <a:ext cx="4174500" cy="2911200"/>
          </a:xfrm>
          <a:prstGeom prst="rect">
            <a:avLst/>
          </a:prstGeom>
        </p:spPr>
        <p:txBody>
          <a:bodyPr anchorCtr="0" anchor="t" bIns="91425" lIns="91425" spcFirstLastPara="1" rIns="91425" wrap="square" tIns="91425">
            <a:normAutofit fontScale="70000"/>
          </a:bodyPr>
          <a:lstStyle/>
          <a:p>
            <a:pPr indent="-335280" lvl="0" marL="457200" rtl="0" algn="l">
              <a:spcBef>
                <a:spcPts val="0"/>
              </a:spcBef>
              <a:spcAft>
                <a:spcPts val="0"/>
              </a:spcAft>
              <a:buSzPct val="100000"/>
              <a:buChar char="●"/>
            </a:pPr>
            <a:r>
              <a:rPr lang="en" u="sng">
                <a:solidFill>
                  <a:schemeClr val="hlink"/>
                </a:solidFill>
                <a:hlinkClick r:id="rId3"/>
              </a:rPr>
              <a:t>Diffie Hellman Key Exchange</a:t>
            </a:r>
            <a:endParaRPr/>
          </a:p>
          <a:p>
            <a:pPr indent="-308610" lvl="1" marL="914400" rtl="0" algn="l">
              <a:spcBef>
                <a:spcPts val="0"/>
              </a:spcBef>
              <a:spcAft>
                <a:spcPts val="0"/>
              </a:spcAft>
              <a:buSzPct val="100000"/>
              <a:buChar char="○"/>
            </a:pPr>
            <a:r>
              <a:rPr lang="en"/>
              <a:t>Pick p and g commonly known to both and must be relative primes</a:t>
            </a:r>
            <a:endParaRPr/>
          </a:p>
          <a:p>
            <a:pPr indent="-308610" lvl="1" marL="914400" rtl="0" algn="l">
              <a:spcBef>
                <a:spcPts val="0"/>
              </a:spcBef>
              <a:spcAft>
                <a:spcPts val="0"/>
              </a:spcAft>
              <a:buSzPct val="100000"/>
              <a:buChar char="○"/>
            </a:pPr>
            <a:r>
              <a:rPr lang="en"/>
              <a:t>Alice use secret a and send A = g^a mod p</a:t>
            </a:r>
            <a:endParaRPr/>
          </a:p>
          <a:p>
            <a:pPr indent="-308610" lvl="1" marL="914400" rtl="0" algn="l">
              <a:spcBef>
                <a:spcPts val="0"/>
              </a:spcBef>
              <a:spcAft>
                <a:spcPts val="0"/>
              </a:spcAft>
              <a:buSzPct val="100000"/>
              <a:buChar char="○"/>
            </a:pPr>
            <a:r>
              <a:rPr lang="en"/>
              <a:t>Bob use secret b and send B = g^b mod p</a:t>
            </a:r>
            <a:endParaRPr/>
          </a:p>
          <a:p>
            <a:pPr indent="-308610" lvl="1" marL="914400" rtl="0" algn="l">
              <a:spcBef>
                <a:spcPts val="0"/>
              </a:spcBef>
              <a:spcAft>
                <a:spcPts val="0"/>
              </a:spcAft>
              <a:buSzPct val="100000"/>
              <a:buChar char="○"/>
            </a:pPr>
            <a:r>
              <a:rPr lang="en"/>
              <a:t>Alice compute s1 = B^a mod p = (g^b mod p) ^ a mod p = g^ab mod p</a:t>
            </a:r>
            <a:endParaRPr/>
          </a:p>
          <a:p>
            <a:pPr indent="-308610" lvl="1" marL="914400" rtl="0" algn="l">
              <a:spcBef>
                <a:spcPts val="0"/>
              </a:spcBef>
              <a:spcAft>
                <a:spcPts val="0"/>
              </a:spcAft>
              <a:buSzPct val="100000"/>
              <a:buChar char="○"/>
            </a:pPr>
            <a:r>
              <a:rPr lang="en"/>
              <a:t>Bob compute s2 = A^b mod p = (g^a mod p) ^ b mod p = g^ab mod p</a:t>
            </a:r>
            <a:endParaRPr/>
          </a:p>
          <a:p>
            <a:pPr indent="-308610" lvl="1" marL="914400" rtl="0" algn="l">
              <a:spcBef>
                <a:spcPts val="0"/>
              </a:spcBef>
              <a:spcAft>
                <a:spcPts val="0"/>
              </a:spcAft>
              <a:buSzPct val="100000"/>
              <a:buChar char="○"/>
            </a:pPr>
            <a:r>
              <a:rPr lang="en"/>
              <a:t>By the properties of primes and modulo arithmetic s1==s2 and we have established a shared key.</a:t>
            </a:r>
            <a:endParaRPr/>
          </a:p>
        </p:txBody>
      </p:sp>
      <p:sp>
        <p:nvSpPr>
          <p:cNvPr id="209" name="Google Shape;209;p25"/>
          <p:cNvSpPr/>
          <p:nvPr/>
        </p:nvSpPr>
        <p:spPr>
          <a:xfrm>
            <a:off x="5529075" y="1192425"/>
            <a:ext cx="2807400" cy="3834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 name="Google Shape;210;p25"/>
          <p:cNvPicPr preferRelativeResize="0"/>
          <p:nvPr/>
        </p:nvPicPr>
        <p:blipFill>
          <a:blip r:embed="rId4">
            <a:alphaModFix/>
          </a:blip>
          <a:stretch>
            <a:fillRect/>
          </a:stretch>
        </p:blipFill>
        <p:spPr>
          <a:xfrm>
            <a:off x="5690650" y="1307850"/>
            <a:ext cx="2350765" cy="35308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Authentication</a:t>
            </a:r>
            <a:endParaRPr/>
          </a:p>
        </p:txBody>
      </p:sp>
      <p:sp>
        <p:nvSpPr>
          <p:cNvPr id="216" name="Google Shape;216;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a:t>Encryption and Integrity are useless if you agree to send your secrets to the wrong person</a:t>
            </a:r>
            <a:endParaRPr/>
          </a:p>
          <a:p>
            <a:pPr indent="-381000" lvl="0" marL="457200" rtl="0" algn="l">
              <a:spcBef>
                <a:spcPts val="0"/>
              </a:spcBef>
              <a:spcAft>
                <a:spcPts val="0"/>
              </a:spcAft>
              <a:buSzPts val="2400"/>
              <a:buChar char="●"/>
            </a:pPr>
            <a:r>
              <a:rPr lang="en"/>
              <a:t>In some cases only one side needs to authenticate itself (i.e. the webserver you talk to doesn’t care who you are, but you care about who it is)</a:t>
            </a:r>
            <a:endParaRPr/>
          </a:p>
          <a:p>
            <a:pPr indent="-342900" lvl="1" marL="914400" rtl="0" algn="l">
              <a:spcBef>
                <a:spcPts val="0"/>
              </a:spcBef>
              <a:spcAft>
                <a:spcPts val="0"/>
              </a:spcAft>
              <a:buSzPts val="1800"/>
              <a:buChar char="○"/>
            </a:pPr>
            <a:r>
              <a:rPr lang="en"/>
              <a:t>Phishing relies on you not noticing who you talk 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7"/>
          <p:cNvSpPr txBox="1"/>
          <p:nvPr>
            <p:ph type="title"/>
          </p:nvPr>
        </p:nvSpPr>
        <p:spPr>
          <a:xfrm>
            <a:off x="1297500" y="3874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Authentication</a:t>
            </a:r>
            <a:endParaRPr/>
          </a:p>
        </p:txBody>
      </p:sp>
      <p:sp>
        <p:nvSpPr>
          <p:cNvPr id="222" name="Google Shape;222;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a:bodyPr>
          <a:lstStyle/>
          <a:p>
            <a:pPr indent="-346710" lvl="0" marL="457200" rtl="0" algn="l">
              <a:spcBef>
                <a:spcPts val="0"/>
              </a:spcBef>
              <a:spcAft>
                <a:spcPts val="0"/>
              </a:spcAft>
              <a:buSzPct val="100000"/>
              <a:buChar char="●"/>
            </a:pPr>
            <a:r>
              <a:rPr lang="en"/>
              <a:t>TLS certs</a:t>
            </a:r>
            <a:endParaRPr/>
          </a:p>
          <a:p>
            <a:pPr indent="-317182" lvl="1" marL="914400" rtl="0" algn="l">
              <a:spcBef>
                <a:spcPts val="0"/>
              </a:spcBef>
              <a:spcAft>
                <a:spcPts val="0"/>
              </a:spcAft>
              <a:buSzPct val="100000"/>
              <a:buChar char="○"/>
            </a:pPr>
            <a:r>
              <a:rPr lang="en"/>
              <a:t>Server has both a Pub and Priv key</a:t>
            </a:r>
            <a:endParaRPr/>
          </a:p>
          <a:p>
            <a:pPr indent="-317182" lvl="1" marL="914400" rtl="0" algn="l">
              <a:spcBef>
                <a:spcPts val="0"/>
              </a:spcBef>
              <a:spcAft>
                <a:spcPts val="0"/>
              </a:spcAft>
              <a:buSzPct val="100000"/>
              <a:buChar char="○"/>
            </a:pPr>
            <a:r>
              <a:rPr lang="en"/>
              <a:t>Something encrypted with the Priv key can be decrypted by the Pub key</a:t>
            </a:r>
            <a:endParaRPr/>
          </a:p>
          <a:p>
            <a:pPr indent="-317182" lvl="1" marL="914400" rtl="0" algn="l">
              <a:spcBef>
                <a:spcPts val="0"/>
              </a:spcBef>
              <a:spcAft>
                <a:spcPts val="0"/>
              </a:spcAft>
              <a:buSzPct val="100000"/>
              <a:buChar char="○"/>
            </a:pPr>
            <a:r>
              <a:rPr lang="en"/>
              <a:t>Something </a:t>
            </a:r>
            <a:r>
              <a:rPr lang="en"/>
              <a:t>encrypted</a:t>
            </a:r>
            <a:r>
              <a:rPr lang="en"/>
              <a:t> with the Pub key can be decrypted by the Priv key</a:t>
            </a:r>
            <a:endParaRPr/>
          </a:p>
          <a:p>
            <a:pPr indent="-317182" lvl="1" marL="914400" rtl="0" algn="l">
              <a:spcBef>
                <a:spcPts val="0"/>
              </a:spcBef>
              <a:spcAft>
                <a:spcPts val="0"/>
              </a:spcAft>
              <a:buSzPct val="100000"/>
              <a:buChar char="○"/>
            </a:pPr>
            <a:r>
              <a:rPr lang="en"/>
              <a:t>Server send a hash of its certificate encrypted with the </a:t>
            </a:r>
            <a:r>
              <a:rPr lang="en"/>
              <a:t>private key to client</a:t>
            </a:r>
            <a:endParaRPr/>
          </a:p>
          <a:p>
            <a:pPr indent="-317182" lvl="1" marL="914400" rtl="0" algn="l">
              <a:spcBef>
                <a:spcPts val="0"/>
              </a:spcBef>
              <a:spcAft>
                <a:spcPts val="0"/>
              </a:spcAft>
              <a:buSzPct val="100000"/>
              <a:buChar char="○"/>
            </a:pPr>
            <a:r>
              <a:rPr lang="en"/>
              <a:t>Client decrypts the hash using the public key, calculates the hash independently and compares the decrypted with its own</a:t>
            </a:r>
            <a:endParaRPr/>
          </a:p>
          <a:p>
            <a:pPr indent="-317182" lvl="1" marL="914400" rtl="0" algn="l">
              <a:spcBef>
                <a:spcPts val="0"/>
              </a:spcBef>
              <a:spcAft>
                <a:spcPts val="0"/>
              </a:spcAft>
              <a:buSzPct val="100000"/>
              <a:buChar char="○"/>
            </a:pPr>
            <a:r>
              <a:rPr lang="en"/>
              <a:t>Client send a random message to server encrypted with the public key and waits for the server to send the original message back.</a:t>
            </a:r>
            <a:endParaRPr/>
          </a:p>
          <a:p>
            <a:pPr indent="-317182" lvl="1" marL="914400" rtl="0" algn="l">
              <a:spcBef>
                <a:spcPts val="0"/>
              </a:spcBef>
              <a:spcAft>
                <a:spcPts val="0"/>
              </a:spcAft>
              <a:buSzPct val="100000"/>
              <a:buChar char="○"/>
            </a:pPr>
            <a:r>
              <a:rPr lang="en"/>
              <a:t>Authentication completed!</a:t>
            </a:r>
            <a:r>
              <a:rPr lang="en"/>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Authentication</a:t>
            </a:r>
            <a:endParaRPr/>
          </a:p>
        </p:txBody>
      </p:sp>
      <p:sp>
        <p:nvSpPr>
          <p:cNvPr id="228" name="Google Shape;228;p2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a:t>Man in the middle can mess this up by intercepting the messages and substituting them with their own!</a:t>
            </a:r>
            <a:endParaRPr/>
          </a:p>
          <a:p>
            <a:pPr indent="-381000" lvl="0" marL="457200" rtl="0" algn="l">
              <a:spcBef>
                <a:spcPts val="0"/>
              </a:spcBef>
              <a:spcAft>
                <a:spcPts val="0"/>
              </a:spcAft>
              <a:buSzPts val="2400"/>
              <a:buChar char="●"/>
            </a:pPr>
            <a:r>
              <a:rPr lang="en"/>
              <a:t>If the client had faith on the servers public key and cert by “knowing” what they are this problem goes away</a:t>
            </a:r>
            <a:endParaRPr/>
          </a:p>
          <a:p>
            <a:pPr indent="-381000" lvl="0" marL="457200" rtl="0" algn="l">
              <a:spcBef>
                <a:spcPts val="0"/>
              </a:spcBef>
              <a:spcAft>
                <a:spcPts val="0"/>
              </a:spcAft>
              <a:buSzPts val="2400"/>
              <a:buChar char="●"/>
            </a:pPr>
            <a:r>
              <a:rPr lang="en"/>
              <a:t>Certificate authorities solve this problem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Authentication with CAs</a:t>
            </a:r>
            <a:endParaRPr/>
          </a:p>
        </p:txBody>
      </p:sp>
      <p:sp>
        <p:nvSpPr>
          <p:cNvPr id="234" name="Google Shape;234;p2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a:t>Everyone has pre-installed certificates from well known CAs (i.e. Verisign, Digicert)</a:t>
            </a:r>
            <a:endParaRPr/>
          </a:p>
          <a:p>
            <a:pPr indent="-381000" lvl="0" marL="457200" rtl="0" algn="l">
              <a:spcBef>
                <a:spcPts val="0"/>
              </a:spcBef>
              <a:spcAft>
                <a:spcPts val="0"/>
              </a:spcAft>
              <a:buSzPts val="2400"/>
              <a:buChar char="●"/>
            </a:pPr>
            <a:r>
              <a:rPr lang="en"/>
              <a:t>Server has their certification signed with CA’s private key which can then be decrypted with CA’s public key</a:t>
            </a:r>
            <a:endParaRPr/>
          </a:p>
          <a:p>
            <a:pPr indent="-381000" lvl="0" marL="457200" rtl="0" algn="l">
              <a:spcBef>
                <a:spcPts val="0"/>
              </a:spcBef>
              <a:spcAft>
                <a:spcPts val="0"/>
              </a:spcAft>
              <a:buSzPts val="2400"/>
              <a:buChar char="●"/>
            </a:pPr>
            <a:r>
              <a:rPr lang="en"/>
              <a:t>Server must pay CA to have them sign their certificate (also called issue of certificate)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Types of validation</a:t>
            </a:r>
            <a:endParaRPr/>
          </a:p>
        </p:txBody>
      </p:sp>
      <p:sp>
        <p:nvSpPr>
          <p:cNvPr id="240" name="Google Shape;240;p3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20000"/>
          </a:bodyPr>
          <a:lstStyle/>
          <a:p>
            <a:pPr indent="-358140" lvl="0" marL="457200" rtl="0" algn="l">
              <a:spcBef>
                <a:spcPts val="0"/>
              </a:spcBef>
              <a:spcAft>
                <a:spcPts val="0"/>
              </a:spcAft>
              <a:buSzPct val="100000"/>
              <a:buChar char="●"/>
            </a:pPr>
            <a:r>
              <a:rPr lang="en"/>
              <a:t>Domain validation (DV)</a:t>
            </a:r>
            <a:endParaRPr/>
          </a:p>
          <a:p>
            <a:pPr indent="-325755" lvl="1" marL="914400" rtl="0" algn="l">
              <a:spcBef>
                <a:spcPts val="0"/>
              </a:spcBef>
              <a:spcAft>
                <a:spcPts val="0"/>
              </a:spcAft>
              <a:buSzPct val="100000"/>
              <a:buChar char="○"/>
            </a:pPr>
            <a:r>
              <a:rPr lang="en"/>
              <a:t>Prove you own the domain (typically show you own an </a:t>
            </a:r>
            <a:r>
              <a:rPr lang="en"/>
              <a:t>email associated with the domain)</a:t>
            </a:r>
            <a:endParaRPr/>
          </a:p>
          <a:p>
            <a:pPr indent="-358140" lvl="0" marL="457200" rtl="0" algn="l">
              <a:spcBef>
                <a:spcPts val="0"/>
              </a:spcBef>
              <a:spcAft>
                <a:spcPts val="0"/>
              </a:spcAft>
              <a:buSzPct val="100000"/>
              <a:buChar char="●"/>
            </a:pPr>
            <a:r>
              <a:rPr lang="en"/>
              <a:t>Organization validation</a:t>
            </a:r>
            <a:endParaRPr/>
          </a:p>
          <a:p>
            <a:pPr indent="-325755" lvl="1" marL="914400" rtl="0" algn="l">
              <a:spcBef>
                <a:spcPts val="0"/>
              </a:spcBef>
              <a:spcAft>
                <a:spcPts val="0"/>
              </a:spcAft>
              <a:buSzPct val="100000"/>
              <a:buChar char="○"/>
            </a:pPr>
            <a:r>
              <a:rPr lang="en"/>
              <a:t>Additional details need to be verified.</a:t>
            </a:r>
            <a:endParaRPr/>
          </a:p>
          <a:p>
            <a:pPr indent="-358140" lvl="0" marL="457200" rtl="0" algn="l">
              <a:spcBef>
                <a:spcPts val="0"/>
              </a:spcBef>
              <a:spcAft>
                <a:spcPts val="0"/>
              </a:spcAft>
              <a:buSzPct val="100000"/>
              <a:buChar char="●"/>
            </a:pPr>
            <a:r>
              <a:rPr lang="en"/>
              <a:t>Extended validation</a:t>
            </a:r>
            <a:endParaRPr/>
          </a:p>
          <a:p>
            <a:pPr indent="-325755" lvl="1" marL="914400" rtl="0" algn="l">
              <a:spcBef>
                <a:spcPts val="0"/>
              </a:spcBef>
              <a:spcAft>
                <a:spcPts val="0"/>
              </a:spcAft>
              <a:buSzPct val="100000"/>
              <a:buChar char="○"/>
            </a:pPr>
            <a:r>
              <a:rPr lang="en"/>
              <a:t>With EV, nine additional steps are required including verifying a businesses’ public phone number, length of time in business, registration number and jurisdiction, as well as a domain fraud check, contact blacklist check and a telephone call to authenticate the employment status of the requestor.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HyperText Transfer Protocol (HTTP)</a:t>
            </a:r>
            <a:endParaRPr/>
          </a:p>
        </p:txBody>
      </p:sp>
      <p:sp>
        <p:nvSpPr>
          <p:cNvPr id="246" name="Google Shape;246;p3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a:bodyPr>
          <a:lstStyle/>
          <a:p>
            <a:pPr indent="-369570" lvl="0" marL="457200" rtl="0" algn="l">
              <a:spcBef>
                <a:spcPts val="0"/>
              </a:spcBef>
              <a:spcAft>
                <a:spcPts val="0"/>
              </a:spcAft>
              <a:buSzPct val="100000"/>
              <a:buChar char="●"/>
            </a:pPr>
            <a:r>
              <a:rPr lang="en"/>
              <a:t>Built on top of TCP (or UDP more recently)</a:t>
            </a:r>
            <a:endParaRPr/>
          </a:p>
          <a:p>
            <a:pPr indent="-369570" lvl="0" marL="457200" rtl="0" algn="l">
              <a:spcBef>
                <a:spcPts val="0"/>
              </a:spcBef>
              <a:spcAft>
                <a:spcPts val="0"/>
              </a:spcAft>
              <a:buSzPct val="100000"/>
              <a:buChar char="●"/>
            </a:pPr>
            <a:r>
              <a:rPr lang="en"/>
              <a:t>Most commonly built on top of TLS (HTTPS)</a:t>
            </a:r>
            <a:endParaRPr/>
          </a:p>
          <a:p>
            <a:pPr indent="-369570" lvl="0" marL="457200" rtl="0" algn="l">
              <a:spcBef>
                <a:spcPts val="0"/>
              </a:spcBef>
              <a:spcAft>
                <a:spcPts val="0"/>
              </a:spcAft>
              <a:buSzPct val="100000"/>
              <a:buChar char="●"/>
            </a:pPr>
            <a:r>
              <a:rPr lang="en"/>
              <a:t>Connectionless and Stateless (A request does not depend on other requests, though it can have side-effects on the </a:t>
            </a:r>
            <a:r>
              <a:rPr lang="en"/>
              <a:t>server)</a:t>
            </a:r>
            <a:endParaRPr/>
          </a:p>
          <a:p>
            <a:pPr indent="-369570" lvl="0" marL="457200" rtl="0" algn="l">
              <a:spcBef>
                <a:spcPts val="0"/>
              </a:spcBef>
              <a:spcAft>
                <a:spcPts val="0"/>
              </a:spcAft>
              <a:buSzPct val="100000"/>
              <a:buChar char="●"/>
            </a:pPr>
            <a:r>
              <a:rPr lang="en"/>
              <a:t>Media independent (payload is independent of the protocol, and negotiated as part of the protocol)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HTTP Resources</a:t>
            </a:r>
            <a:endParaRPr/>
          </a:p>
        </p:txBody>
      </p:sp>
      <p:sp>
        <p:nvSpPr>
          <p:cNvPr id="252" name="Google Shape;252;p3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20000"/>
          </a:bodyPr>
          <a:lstStyle/>
          <a:p>
            <a:pPr indent="-358140" lvl="0" marL="457200" rtl="0" algn="l">
              <a:spcBef>
                <a:spcPts val="0"/>
              </a:spcBef>
              <a:spcAft>
                <a:spcPts val="0"/>
              </a:spcAft>
              <a:buSzPct val="100000"/>
              <a:buChar char="●"/>
            </a:pPr>
            <a:r>
              <a:rPr lang="en"/>
              <a:t>URL vs URI vs URN</a:t>
            </a:r>
            <a:endParaRPr/>
          </a:p>
          <a:p>
            <a:pPr indent="-325755" lvl="1" marL="914400" rtl="0" algn="l">
              <a:spcBef>
                <a:spcPts val="0"/>
              </a:spcBef>
              <a:spcAft>
                <a:spcPts val="0"/>
              </a:spcAft>
              <a:buSzPct val="100000"/>
              <a:buChar char="○"/>
            </a:pPr>
            <a:r>
              <a:rPr lang="en"/>
              <a:t>URL (Uniform Resource Locator) -- A name identifying a resource that can be fetched with HTTP (i.e. http://www.google.com)</a:t>
            </a:r>
            <a:endParaRPr/>
          </a:p>
          <a:p>
            <a:pPr indent="-325755" lvl="1" marL="914400" rtl="0" algn="l">
              <a:spcBef>
                <a:spcPts val="0"/>
              </a:spcBef>
              <a:spcAft>
                <a:spcPts val="0"/>
              </a:spcAft>
              <a:buSzPct val="100000"/>
              <a:buChar char="○"/>
            </a:pPr>
            <a:r>
              <a:rPr lang="en"/>
              <a:t>URI (Uniform Resource Identifier) -- A name identifying a resource that may or may not be fetchable (URLs are URIs but not vice-versa) (i.e. </a:t>
            </a:r>
            <a:r>
              <a:rPr lang="en"/>
              <a:t>xmlns:recipe = "https://chef.com/recipe")</a:t>
            </a:r>
            <a:endParaRPr/>
          </a:p>
          <a:p>
            <a:pPr indent="-325755" lvl="1" marL="914400" rtl="0" algn="l">
              <a:spcBef>
                <a:spcPts val="0"/>
              </a:spcBef>
              <a:spcAft>
                <a:spcPts val="0"/>
              </a:spcAft>
              <a:buSzPct val="100000"/>
              <a:buChar char="○"/>
            </a:pPr>
            <a:r>
              <a:rPr lang="en"/>
              <a:t>URN (Uniform Resource Name) -- A name identifying a resource in a unique permanent way but not how to fetch it (i.e. urn:isbn:1234567890</a:t>
            </a:r>
            <a:endParaRPr/>
          </a:p>
          <a:p>
            <a:pPr indent="-358140" lvl="0" marL="457200" rtl="0" algn="l">
              <a:spcBef>
                <a:spcPts val="0"/>
              </a:spcBef>
              <a:spcAft>
                <a:spcPts val="0"/>
              </a:spcAft>
              <a:buSzPct val="100000"/>
              <a:buChar char="●"/>
            </a:pPr>
            <a:r>
              <a:rPr lang="en"/>
              <a:t>URLs have the form </a:t>
            </a:r>
            <a:r>
              <a:rPr lang="en">
                <a:solidFill>
                  <a:srgbClr val="CC0000"/>
                </a:solidFill>
              </a:rPr>
              <a:t>protocol</a:t>
            </a:r>
            <a:r>
              <a:rPr lang="en"/>
              <a:t>://</a:t>
            </a:r>
            <a:r>
              <a:rPr lang="en">
                <a:solidFill>
                  <a:srgbClr val="00FFFF"/>
                </a:solidFill>
              </a:rPr>
              <a:t>domain</a:t>
            </a:r>
            <a:r>
              <a:rPr lang="en"/>
              <a:t>[:</a:t>
            </a:r>
            <a:r>
              <a:rPr lang="en">
                <a:solidFill>
                  <a:srgbClr val="F78C6C"/>
                </a:solidFill>
              </a:rPr>
              <a:t>port</a:t>
            </a:r>
            <a:r>
              <a:rPr lang="en"/>
              <a:t>]/</a:t>
            </a:r>
            <a:r>
              <a:rPr lang="en">
                <a:solidFill>
                  <a:srgbClr val="FF00FF"/>
                </a:solidFill>
              </a:rPr>
              <a:t>path</a:t>
            </a:r>
            <a:r>
              <a:rPr lang="en"/>
              <a:t>[?</a:t>
            </a:r>
            <a:r>
              <a:rPr lang="en">
                <a:solidFill>
                  <a:srgbClr val="BF9000"/>
                </a:solidFill>
              </a:rPr>
              <a:t>parameters</a:t>
            </a:r>
            <a:r>
              <a:rPr lang="en"/>
              <a:t>][#</a:t>
            </a:r>
            <a:r>
              <a:rPr lang="en">
                <a:solidFill>
                  <a:srgbClr val="EAD1DC"/>
                </a:solidFill>
              </a:rPr>
              <a:t>anchor</a:t>
            </a:r>
            <a:r>
              <a:rPr lang="en"/>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Protocol information</a:t>
            </a:r>
            <a:endParaRPr/>
          </a:p>
        </p:txBody>
      </p:sp>
      <p:sp>
        <p:nvSpPr>
          <p:cNvPr id="258" name="Google Shape;258;p3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20000"/>
          </a:bodyPr>
          <a:lstStyle/>
          <a:p>
            <a:pPr indent="-358140" lvl="0" marL="457200" rtl="0" algn="l">
              <a:spcBef>
                <a:spcPts val="0"/>
              </a:spcBef>
              <a:spcAft>
                <a:spcPts val="0"/>
              </a:spcAft>
              <a:buSzPct val="100000"/>
              <a:buChar char="●"/>
            </a:pPr>
            <a:r>
              <a:rPr lang="en"/>
              <a:t>Version: HTTP/1.0, HTTP/1.1, HTTP/2.0, HTTP/3.0</a:t>
            </a:r>
            <a:endParaRPr/>
          </a:p>
          <a:p>
            <a:pPr indent="-325755" lvl="1" marL="914400" rtl="0" algn="l">
              <a:spcBef>
                <a:spcPts val="0"/>
              </a:spcBef>
              <a:spcAft>
                <a:spcPts val="0"/>
              </a:spcAft>
              <a:buSzPct val="100000"/>
              <a:buChar char="○"/>
            </a:pPr>
            <a:r>
              <a:rPr lang="en"/>
              <a:t>Last 2 must be encrypted over TLS</a:t>
            </a:r>
            <a:endParaRPr/>
          </a:p>
          <a:p>
            <a:pPr indent="-358140" lvl="0" marL="457200" rtl="0" algn="l">
              <a:spcBef>
                <a:spcPts val="0"/>
              </a:spcBef>
              <a:spcAft>
                <a:spcPts val="0"/>
              </a:spcAft>
              <a:buSzPct val="100000"/>
              <a:buChar char="●"/>
            </a:pPr>
            <a:r>
              <a:rPr lang="en"/>
              <a:t>Message: Can contain headers and bodies</a:t>
            </a:r>
            <a:endParaRPr/>
          </a:p>
          <a:p>
            <a:pPr indent="-325755" lvl="1" marL="914400" rtl="0" algn="l">
              <a:spcBef>
                <a:spcPts val="0"/>
              </a:spcBef>
              <a:spcAft>
                <a:spcPts val="0"/>
              </a:spcAft>
              <a:buSzPct val="100000"/>
              <a:buChar char="○"/>
            </a:pPr>
            <a:r>
              <a:rPr lang="en"/>
              <a:t>Headers are always human readable, key-value pairs</a:t>
            </a:r>
            <a:endParaRPr/>
          </a:p>
          <a:p>
            <a:pPr indent="-325755" lvl="1" marL="914400" rtl="0" algn="l">
              <a:spcBef>
                <a:spcPts val="0"/>
              </a:spcBef>
              <a:spcAft>
                <a:spcPts val="0"/>
              </a:spcAft>
              <a:buSzPct val="100000"/>
              <a:buChar char="○"/>
            </a:pPr>
            <a:r>
              <a:rPr lang="en"/>
              <a:t>Bodies can be text or arbitrary binary data</a:t>
            </a:r>
            <a:endParaRPr/>
          </a:p>
          <a:p>
            <a:pPr indent="-358140" lvl="0" marL="457200" rtl="0" algn="l">
              <a:spcBef>
                <a:spcPts val="0"/>
              </a:spcBef>
              <a:spcAft>
                <a:spcPts val="0"/>
              </a:spcAft>
              <a:buSzPct val="100000"/>
              <a:buChar char="●"/>
            </a:pPr>
            <a:r>
              <a:rPr lang="en"/>
              <a:t>Request methods</a:t>
            </a:r>
            <a:endParaRPr/>
          </a:p>
          <a:p>
            <a:pPr indent="-325755" lvl="1" marL="914400" rtl="0" algn="l">
              <a:spcBef>
                <a:spcPts val="0"/>
              </a:spcBef>
              <a:spcAft>
                <a:spcPts val="0"/>
              </a:spcAft>
              <a:buSzPct val="100000"/>
              <a:buChar char="○"/>
            </a:pPr>
            <a:r>
              <a:rPr lang="en"/>
              <a:t>GET, HEAD, POST, PUT, DELETE, (CONNECT, OPTIONS, TRACE)</a:t>
            </a:r>
            <a:endParaRPr/>
          </a:p>
          <a:p>
            <a:pPr indent="-325755" lvl="1" marL="914400" rtl="0" algn="l">
              <a:spcBef>
                <a:spcPts val="0"/>
              </a:spcBef>
              <a:spcAft>
                <a:spcPts val="0"/>
              </a:spcAft>
              <a:buSzPct val="100000"/>
              <a:buChar char="○"/>
            </a:pPr>
            <a:r>
              <a:rPr lang="en"/>
              <a:t>PUT vs POST</a:t>
            </a:r>
            <a:endParaRPr/>
          </a:p>
          <a:p>
            <a:pPr indent="-304165" lvl="2" marL="1371600" rtl="0" algn="l">
              <a:spcBef>
                <a:spcPts val="0"/>
              </a:spcBef>
              <a:spcAft>
                <a:spcPts val="0"/>
              </a:spcAft>
              <a:buSzPct val="100000"/>
              <a:buChar char="■"/>
            </a:pPr>
            <a:r>
              <a:rPr lang="en"/>
              <a:t>POST implies sending the server some data and letting the server decide which object they affect</a:t>
            </a:r>
            <a:endParaRPr/>
          </a:p>
          <a:p>
            <a:pPr indent="-304165" lvl="2" marL="1371600" rtl="0" algn="l">
              <a:spcBef>
                <a:spcPts val="0"/>
              </a:spcBef>
              <a:spcAft>
                <a:spcPts val="0"/>
              </a:spcAft>
              <a:buSzPct val="100000"/>
              <a:buChar char="■"/>
            </a:pPr>
            <a:r>
              <a:rPr lang="en"/>
              <a:t>PUT specifies the object and replaces its value with what is provided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HTTP Responses</a:t>
            </a:r>
            <a:endParaRPr/>
          </a:p>
        </p:txBody>
      </p:sp>
      <p:sp>
        <p:nvSpPr>
          <p:cNvPr id="264" name="Google Shape;264;p3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10000"/>
          </a:bodyPr>
          <a:lstStyle/>
          <a:p>
            <a:pPr indent="-346710" lvl="0" marL="457200" rtl="0" algn="l">
              <a:spcBef>
                <a:spcPts val="0"/>
              </a:spcBef>
              <a:spcAft>
                <a:spcPts val="0"/>
              </a:spcAft>
              <a:buSzPct val="100000"/>
              <a:buChar char="●"/>
            </a:pPr>
            <a:r>
              <a:rPr lang="en"/>
              <a:t>1xx -- </a:t>
            </a:r>
            <a:r>
              <a:rPr lang="en"/>
              <a:t>Informational.  Request was received and being processed (an extra response will follow)</a:t>
            </a:r>
            <a:endParaRPr/>
          </a:p>
          <a:p>
            <a:pPr indent="-346710" lvl="0" marL="457200" rtl="0" algn="l">
              <a:spcBef>
                <a:spcPts val="0"/>
              </a:spcBef>
              <a:spcAft>
                <a:spcPts val="0"/>
              </a:spcAft>
              <a:buSzPct val="100000"/>
              <a:buChar char="●"/>
            </a:pPr>
            <a:r>
              <a:rPr lang="en"/>
              <a:t>2xx -- Success.  Request was processed successfully</a:t>
            </a:r>
            <a:endParaRPr/>
          </a:p>
          <a:p>
            <a:pPr indent="-346710" lvl="0" marL="457200" rtl="0" algn="l">
              <a:spcBef>
                <a:spcPts val="0"/>
              </a:spcBef>
              <a:spcAft>
                <a:spcPts val="0"/>
              </a:spcAft>
              <a:buSzPct val="100000"/>
              <a:buChar char="●"/>
            </a:pPr>
            <a:r>
              <a:rPr lang="en"/>
              <a:t>3xx -- Redirect.  The name of the resource has changed and more client action is required to complete the requests</a:t>
            </a:r>
            <a:endParaRPr/>
          </a:p>
          <a:p>
            <a:pPr indent="-346710" lvl="0" marL="457200" rtl="0" algn="l">
              <a:spcBef>
                <a:spcPts val="0"/>
              </a:spcBef>
              <a:spcAft>
                <a:spcPts val="0"/>
              </a:spcAft>
              <a:buSzPct val="100000"/>
              <a:buChar char="●"/>
            </a:pPr>
            <a:r>
              <a:rPr lang="en"/>
              <a:t>4xx -- Client error.  Something about the resource being requested is wrong.</a:t>
            </a:r>
            <a:endParaRPr/>
          </a:p>
          <a:p>
            <a:pPr indent="-346710" lvl="0" marL="457200" rtl="0" algn="l">
              <a:spcBef>
                <a:spcPts val="0"/>
              </a:spcBef>
              <a:spcAft>
                <a:spcPts val="0"/>
              </a:spcAft>
              <a:buSzPct val="100000"/>
              <a:buChar char="●"/>
            </a:pPr>
            <a:r>
              <a:rPr lang="en"/>
              <a:t>5xx -- Server error. The server encountered an error and could not process the request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HTTP Headers</a:t>
            </a:r>
            <a:endParaRPr/>
          </a:p>
        </p:txBody>
      </p:sp>
      <p:sp>
        <p:nvSpPr>
          <p:cNvPr id="270" name="Google Shape;270;p3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369570" lvl="0" marL="457200" rtl="0" algn="l">
              <a:spcBef>
                <a:spcPts val="0"/>
              </a:spcBef>
              <a:spcAft>
                <a:spcPts val="0"/>
              </a:spcAft>
              <a:buSzPct val="100000"/>
              <a:buChar char="●"/>
            </a:pPr>
            <a:r>
              <a:rPr lang="en"/>
              <a:t>General headers -- Apply both to requests and responses (i.e. Cache-control, Upgrade, etc)</a:t>
            </a:r>
            <a:endParaRPr/>
          </a:p>
          <a:p>
            <a:pPr indent="-369570" lvl="0" marL="457200" rtl="0" algn="l">
              <a:spcBef>
                <a:spcPts val="0"/>
              </a:spcBef>
              <a:spcAft>
                <a:spcPts val="0"/>
              </a:spcAft>
              <a:buSzPct val="100000"/>
              <a:buChar char="●"/>
            </a:pPr>
            <a:r>
              <a:rPr lang="en"/>
              <a:t>Client request headers -- Apply only to requests (i.e. Accept, Accept-Encoding, Cookie, Host, etc)</a:t>
            </a:r>
            <a:endParaRPr/>
          </a:p>
          <a:p>
            <a:pPr indent="-369570" lvl="0" marL="457200" rtl="0" algn="l">
              <a:spcBef>
                <a:spcPts val="0"/>
              </a:spcBef>
              <a:spcAft>
                <a:spcPts val="0"/>
              </a:spcAft>
              <a:buSzPct val="100000"/>
              <a:buChar char="●"/>
            </a:pPr>
            <a:r>
              <a:rPr lang="en"/>
              <a:t>Server response headers -- Apply only to responses (i.e. Age, Etag, Location, Set-Cookie etc)</a:t>
            </a:r>
            <a:endParaRPr/>
          </a:p>
          <a:p>
            <a:pPr indent="-369570" lvl="0" marL="457200" rtl="0" algn="l">
              <a:spcBef>
                <a:spcPts val="0"/>
              </a:spcBef>
              <a:spcAft>
                <a:spcPts val="0"/>
              </a:spcAft>
              <a:buSzPct val="100000"/>
              <a:buChar char="●"/>
            </a:pPr>
            <a:r>
              <a:rPr lang="en"/>
              <a:t>Entity headers -- Apply to the object being returned (i.e. Allow, Content-Length, Last-Modified, etc)</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HTTP Caching</a:t>
            </a:r>
            <a:endParaRPr/>
          </a:p>
        </p:txBody>
      </p:sp>
      <p:sp>
        <p:nvSpPr>
          <p:cNvPr id="276" name="Google Shape;276;p3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lnSpcReduction="20000"/>
          </a:bodyPr>
          <a:lstStyle/>
          <a:p>
            <a:pPr indent="-358140" lvl="0" marL="457200" rtl="0" algn="l">
              <a:spcBef>
                <a:spcPts val="0"/>
              </a:spcBef>
              <a:spcAft>
                <a:spcPts val="0"/>
              </a:spcAft>
              <a:buSzPct val="100000"/>
              <a:buChar char="●"/>
            </a:pPr>
            <a:r>
              <a:rPr lang="en"/>
              <a:t>Client values</a:t>
            </a:r>
            <a:endParaRPr/>
          </a:p>
          <a:p>
            <a:pPr indent="-325755" lvl="1" marL="914400" rtl="0" algn="l">
              <a:spcBef>
                <a:spcPts val="0"/>
              </a:spcBef>
              <a:spcAft>
                <a:spcPts val="0"/>
              </a:spcAft>
              <a:buSzPct val="100000"/>
              <a:buChar char="○"/>
            </a:pPr>
            <a:r>
              <a:rPr lang="en"/>
              <a:t>n</a:t>
            </a:r>
            <a:r>
              <a:rPr lang="en"/>
              <a:t>o-cache (ill named as you can cache but check with origin before using)</a:t>
            </a:r>
            <a:endParaRPr/>
          </a:p>
          <a:p>
            <a:pPr indent="-325755" lvl="1" marL="914400" rtl="0" algn="l">
              <a:spcBef>
                <a:spcPts val="0"/>
              </a:spcBef>
              <a:spcAft>
                <a:spcPts val="0"/>
              </a:spcAft>
              <a:buSzPct val="100000"/>
              <a:buChar char="○"/>
            </a:pPr>
            <a:r>
              <a:rPr lang="en"/>
              <a:t>No-store (must not cache)</a:t>
            </a:r>
            <a:endParaRPr/>
          </a:p>
          <a:p>
            <a:pPr indent="-325755" lvl="1" marL="914400" rtl="0" algn="l">
              <a:spcBef>
                <a:spcPts val="0"/>
              </a:spcBef>
              <a:spcAft>
                <a:spcPts val="0"/>
              </a:spcAft>
              <a:buSzPct val="100000"/>
              <a:buChar char="○"/>
            </a:pPr>
            <a:r>
              <a:rPr lang="en"/>
              <a:t>max-age, max-stale, min-fresh, no-transform, only-if-cached.</a:t>
            </a:r>
            <a:endParaRPr/>
          </a:p>
          <a:p>
            <a:pPr indent="-358140" lvl="0" marL="457200" rtl="0" algn="l">
              <a:spcBef>
                <a:spcPts val="0"/>
              </a:spcBef>
              <a:spcAft>
                <a:spcPts val="0"/>
              </a:spcAft>
              <a:buSzPct val="100000"/>
              <a:buChar char="●"/>
            </a:pPr>
            <a:r>
              <a:rPr lang="en"/>
              <a:t>Server values</a:t>
            </a:r>
            <a:endParaRPr/>
          </a:p>
          <a:p>
            <a:pPr indent="-325755" lvl="1" marL="914400" rtl="0" algn="l">
              <a:spcBef>
                <a:spcPts val="0"/>
              </a:spcBef>
              <a:spcAft>
                <a:spcPts val="0"/>
              </a:spcAft>
              <a:buSzPct val="100000"/>
              <a:buChar char="○"/>
            </a:pPr>
            <a:r>
              <a:rPr lang="en"/>
              <a:t>p</a:t>
            </a:r>
            <a:r>
              <a:rPr lang="en"/>
              <a:t>ublic (can be cached in shared mode)</a:t>
            </a:r>
            <a:endParaRPr/>
          </a:p>
          <a:p>
            <a:pPr indent="-325755" lvl="1" marL="914400" rtl="0" algn="l">
              <a:spcBef>
                <a:spcPts val="0"/>
              </a:spcBef>
              <a:spcAft>
                <a:spcPts val="0"/>
              </a:spcAft>
              <a:buSzPct val="100000"/>
              <a:buChar char="○"/>
            </a:pPr>
            <a:r>
              <a:rPr lang="en"/>
              <a:t>p</a:t>
            </a:r>
            <a:r>
              <a:rPr lang="en"/>
              <a:t>rivate (can not be cached in shared mode)</a:t>
            </a:r>
            <a:endParaRPr/>
          </a:p>
          <a:p>
            <a:pPr indent="-325755" lvl="1" marL="914400" rtl="0" algn="l">
              <a:spcBef>
                <a:spcPts val="0"/>
              </a:spcBef>
              <a:spcAft>
                <a:spcPts val="0"/>
              </a:spcAft>
              <a:buSzPct val="100000"/>
              <a:buChar char="○"/>
            </a:pPr>
            <a:r>
              <a:rPr lang="en"/>
              <a:t>n</a:t>
            </a:r>
            <a:r>
              <a:rPr lang="en"/>
              <a:t>o-cache (as in client)</a:t>
            </a:r>
            <a:endParaRPr/>
          </a:p>
          <a:p>
            <a:pPr indent="-325755" lvl="1" marL="914400" rtl="0" algn="l">
              <a:spcBef>
                <a:spcPts val="0"/>
              </a:spcBef>
              <a:spcAft>
                <a:spcPts val="0"/>
              </a:spcAft>
              <a:buSzPct val="100000"/>
              <a:buChar char="○"/>
            </a:pPr>
            <a:r>
              <a:rPr lang="en"/>
              <a:t>n</a:t>
            </a:r>
            <a:r>
              <a:rPr lang="en"/>
              <a:t>o-store (as in client)</a:t>
            </a:r>
            <a:endParaRPr/>
          </a:p>
          <a:p>
            <a:pPr indent="-325755" lvl="1" marL="914400" rtl="0" algn="l">
              <a:spcBef>
                <a:spcPts val="0"/>
              </a:spcBef>
              <a:spcAft>
                <a:spcPts val="0"/>
              </a:spcAft>
              <a:buSzPct val="100000"/>
              <a:buChar char="○"/>
            </a:pPr>
            <a:r>
              <a:rPr lang="en"/>
              <a:t>No-transform, must-revalidate, proxy-revalidate, max-age, s-maxage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Traffic shares and the advantages of QUIC/HTTP/3.0</a:t>
            </a:r>
            <a:endParaRPr/>
          </a:p>
        </p:txBody>
      </p:sp>
      <p:sp>
        <p:nvSpPr>
          <p:cNvPr id="282" name="Google Shape;282;p3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62500" lnSpcReduction="20000"/>
          </a:bodyPr>
          <a:lstStyle/>
          <a:p>
            <a:pPr indent="-323850" lvl="0" marL="457200" rtl="0" algn="l">
              <a:spcBef>
                <a:spcPts val="0"/>
              </a:spcBef>
              <a:spcAft>
                <a:spcPts val="0"/>
              </a:spcAft>
              <a:buSzPct val="100000"/>
              <a:buChar char="●"/>
            </a:pPr>
            <a:r>
              <a:rPr lang="en"/>
              <a:t>Traffic Shares</a:t>
            </a:r>
            <a:endParaRPr/>
          </a:p>
          <a:p>
            <a:pPr indent="-300038" lvl="1" marL="914400" rtl="0" algn="l">
              <a:spcBef>
                <a:spcPts val="0"/>
              </a:spcBef>
              <a:spcAft>
                <a:spcPts val="0"/>
              </a:spcAft>
              <a:buSzPct val="100000"/>
              <a:buChar char="○"/>
            </a:pPr>
            <a:r>
              <a:rPr lang="en"/>
              <a:t>HTTP/1.0 and HTTP/0.9: ~0.3%</a:t>
            </a:r>
            <a:endParaRPr/>
          </a:p>
          <a:p>
            <a:pPr indent="-300038" lvl="1" marL="914400" rtl="0" algn="l">
              <a:spcBef>
                <a:spcPts val="0"/>
              </a:spcBef>
              <a:spcAft>
                <a:spcPts val="0"/>
              </a:spcAft>
              <a:buSzPct val="100000"/>
              <a:buChar char="○"/>
            </a:pPr>
            <a:r>
              <a:rPr lang="en"/>
              <a:t>HTTP/1.1: ~27%</a:t>
            </a:r>
            <a:endParaRPr/>
          </a:p>
          <a:p>
            <a:pPr indent="-300038" lvl="1" marL="914400" rtl="0" algn="l">
              <a:spcBef>
                <a:spcPts val="0"/>
              </a:spcBef>
              <a:spcAft>
                <a:spcPts val="0"/>
              </a:spcAft>
              <a:buSzPct val="100000"/>
              <a:buChar char="○"/>
            </a:pPr>
            <a:r>
              <a:rPr lang="en"/>
              <a:t>HTTP/2.0: ~36%</a:t>
            </a:r>
            <a:endParaRPr/>
          </a:p>
          <a:p>
            <a:pPr indent="-300038" lvl="1" marL="914400" rtl="0" algn="l">
              <a:spcBef>
                <a:spcPts val="0"/>
              </a:spcBef>
              <a:spcAft>
                <a:spcPts val="0"/>
              </a:spcAft>
              <a:buSzPct val="100000"/>
              <a:buChar char="○"/>
            </a:pPr>
            <a:r>
              <a:rPr lang="en"/>
              <a:t>HTTP/3.0: ~30%</a:t>
            </a:r>
            <a:endParaRPr/>
          </a:p>
          <a:p>
            <a:pPr indent="-323850" lvl="0" marL="457200" rtl="0" algn="l">
              <a:spcBef>
                <a:spcPts val="0"/>
              </a:spcBef>
              <a:spcAft>
                <a:spcPts val="0"/>
              </a:spcAft>
              <a:buSzPct val="100000"/>
              <a:buChar char="●"/>
            </a:pPr>
            <a:r>
              <a:rPr lang="en"/>
              <a:t>Advantages of QUIC</a:t>
            </a:r>
            <a:endParaRPr/>
          </a:p>
          <a:p>
            <a:pPr indent="-300038" lvl="1" marL="914400" rtl="0" algn="l">
              <a:spcBef>
                <a:spcPts val="0"/>
              </a:spcBef>
              <a:spcAft>
                <a:spcPts val="0"/>
              </a:spcAft>
              <a:buSzPct val="100000"/>
              <a:buChar char="○"/>
            </a:pPr>
            <a:r>
              <a:rPr lang="en"/>
              <a:t>No head of line blocking</a:t>
            </a:r>
            <a:endParaRPr/>
          </a:p>
          <a:p>
            <a:pPr indent="-300038" lvl="1" marL="914400" rtl="0" algn="l">
              <a:spcBef>
                <a:spcPts val="0"/>
              </a:spcBef>
              <a:spcAft>
                <a:spcPts val="0"/>
              </a:spcAft>
              <a:buSzPct val="100000"/>
              <a:buChar char="○"/>
            </a:pPr>
            <a:r>
              <a:rPr lang="en"/>
              <a:t>Header compression</a:t>
            </a:r>
            <a:endParaRPr/>
          </a:p>
          <a:p>
            <a:pPr indent="-300038" lvl="1" marL="914400" rtl="0" algn="l">
              <a:spcBef>
                <a:spcPts val="0"/>
              </a:spcBef>
              <a:spcAft>
                <a:spcPts val="0"/>
              </a:spcAft>
              <a:buSzPct val="100000"/>
              <a:buChar char="○"/>
            </a:pPr>
            <a:r>
              <a:rPr lang="en"/>
              <a:t>Encrypted protocol metadata (no transparent caching)</a:t>
            </a:r>
            <a:endParaRPr/>
          </a:p>
          <a:p>
            <a:pPr indent="-300038" lvl="1" marL="914400" rtl="0" algn="l">
              <a:spcBef>
                <a:spcPts val="0"/>
              </a:spcBef>
              <a:spcAft>
                <a:spcPts val="0"/>
              </a:spcAft>
              <a:buSzPct val="100000"/>
              <a:buChar char="○"/>
            </a:pPr>
            <a:r>
              <a:rPr lang="en"/>
              <a:t>Faster loss recovery</a:t>
            </a:r>
            <a:endParaRPr/>
          </a:p>
          <a:p>
            <a:pPr indent="-300038" lvl="1" marL="914400" rtl="0" algn="l">
              <a:spcBef>
                <a:spcPts val="0"/>
              </a:spcBef>
              <a:spcAft>
                <a:spcPts val="0"/>
              </a:spcAft>
              <a:buSzPct val="100000"/>
              <a:buChar char="○"/>
            </a:pPr>
            <a:r>
              <a:rPr lang="en"/>
              <a:t>Packet encryption vs record encryption</a:t>
            </a:r>
            <a:endParaRPr/>
          </a:p>
          <a:p>
            <a:pPr indent="-300038" lvl="1" marL="914400" rtl="0" algn="l">
              <a:spcBef>
                <a:spcPts val="0"/>
              </a:spcBef>
              <a:spcAft>
                <a:spcPts val="0"/>
              </a:spcAft>
              <a:buSzPct val="100000"/>
              <a:buChar char="○"/>
            </a:pPr>
            <a:r>
              <a:rPr lang="en"/>
              <a:t>User space for faster iteration</a:t>
            </a:r>
            <a:endParaRPr/>
          </a:p>
          <a:p>
            <a:pPr indent="-300038" lvl="1" marL="914400" rtl="0" algn="l">
              <a:spcBef>
                <a:spcPts val="0"/>
              </a:spcBef>
              <a:spcAft>
                <a:spcPts val="0"/>
              </a:spcAft>
              <a:buSzPct val="100000"/>
              <a:buChar char="○"/>
            </a:pPr>
            <a:r>
              <a:rPr lang="en" u="sng">
                <a:solidFill>
                  <a:schemeClr val="hlink"/>
                </a:solidFill>
                <a:hlinkClick r:id="rId3"/>
              </a:rPr>
              <a:t>https://storage.googleapis.com/pub-tools-public-publication-data/pdf/8b935debf13bd176a08326738f5f88ad115a071e.pdf</a:t>
            </a:r>
            <a:r>
              <a:rPr lang="en"/>
              <a:t> </a:t>
            </a:r>
            <a:endParaRPr/>
          </a:p>
          <a:p>
            <a:pPr indent="-323850" lvl="0" marL="457200" rtl="0" algn="l">
              <a:spcBef>
                <a:spcPts val="0"/>
              </a:spcBef>
              <a:spcAft>
                <a:spcPts val="0"/>
              </a:spcAft>
              <a:buSzPct val="100000"/>
              <a:buChar char="●"/>
            </a:pPr>
            <a:r>
              <a:rPr lang="en"/>
              <a:t>Examples using telnet on the terminal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Context Protocol (MCP)</a:t>
            </a:r>
            <a:endParaRPr/>
          </a:p>
        </p:txBody>
      </p:sp>
      <p:sp>
        <p:nvSpPr>
          <p:cNvPr id="288" name="Google Shape;288;p38"/>
          <p:cNvSpPr txBox="1"/>
          <p:nvPr>
            <p:ph idx="1" type="body"/>
          </p:nvPr>
        </p:nvSpPr>
        <p:spPr>
          <a:xfrm>
            <a:off x="1309611" y="1567550"/>
            <a:ext cx="14763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good paper to </a:t>
            </a:r>
            <a:r>
              <a:rPr lang="en" u="sng">
                <a:solidFill>
                  <a:schemeClr val="hlink"/>
                </a:solidFill>
                <a:hlinkClick r:id="rId3"/>
              </a:rPr>
              <a:t>read</a:t>
            </a:r>
            <a:endParaRPr/>
          </a:p>
          <a:p>
            <a:pPr indent="0" lvl="0" marL="0" rtl="0" algn="l">
              <a:spcBef>
                <a:spcPts val="1200"/>
              </a:spcBef>
              <a:spcAft>
                <a:spcPts val="1200"/>
              </a:spcAft>
              <a:buNone/>
            </a:pPr>
            <a:r>
              <a:rPr lang="en"/>
              <a:t>The </a:t>
            </a:r>
            <a:r>
              <a:rPr lang="en" u="sng">
                <a:solidFill>
                  <a:schemeClr val="hlink"/>
                </a:solidFill>
                <a:hlinkClick r:id="rId4"/>
              </a:rPr>
              <a:t>spec</a:t>
            </a:r>
            <a:endParaRPr/>
          </a:p>
        </p:txBody>
      </p:sp>
      <p:pic>
        <p:nvPicPr>
          <p:cNvPr id="289" name="Google Shape;289;p38"/>
          <p:cNvPicPr preferRelativeResize="0"/>
          <p:nvPr/>
        </p:nvPicPr>
        <p:blipFill>
          <a:blip r:embed="rId5">
            <a:alphaModFix/>
          </a:blip>
          <a:stretch>
            <a:fillRect/>
          </a:stretch>
        </p:blipFill>
        <p:spPr>
          <a:xfrm>
            <a:off x="4044626" y="2030068"/>
            <a:ext cx="4409052" cy="2680308"/>
          </a:xfrm>
          <a:prstGeom prst="rect">
            <a:avLst/>
          </a:prstGeom>
          <a:noFill/>
          <a:ln>
            <a:noFill/>
          </a:ln>
        </p:spPr>
      </p:pic>
      <p:pic>
        <p:nvPicPr>
          <p:cNvPr descr="The user icon is a vector icon. Isolated contour symbol illustration (Provided by Getty Images)" id="290" name="Google Shape;290;p38"/>
          <p:cNvPicPr preferRelativeResize="0"/>
          <p:nvPr/>
        </p:nvPicPr>
        <p:blipFill>
          <a:blip r:embed="rId6">
            <a:alphaModFix/>
          </a:blip>
          <a:stretch>
            <a:fillRect/>
          </a:stretch>
        </p:blipFill>
        <p:spPr>
          <a:xfrm>
            <a:off x="3260275" y="1192100"/>
            <a:ext cx="784348" cy="784348"/>
          </a:xfrm>
          <a:prstGeom prst="rect">
            <a:avLst/>
          </a:prstGeom>
          <a:noFill/>
          <a:ln>
            <a:noFill/>
          </a:ln>
        </p:spPr>
      </p:pic>
      <p:cxnSp>
        <p:nvCxnSpPr>
          <p:cNvPr id="291" name="Google Shape;291;p38"/>
          <p:cNvCxnSpPr>
            <a:stCxn id="290" idx="3"/>
          </p:cNvCxnSpPr>
          <p:nvPr/>
        </p:nvCxnSpPr>
        <p:spPr>
          <a:xfrm>
            <a:off x="4044623" y="1584274"/>
            <a:ext cx="2048400" cy="646500"/>
          </a:xfrm>
          <a:prstGeom prst="straightConnector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Entities</a:t>
            </a:r>
            <a:endParaRPr/>
          </a:p>
        </p:txBody>
      </p:sp>
      <p:sp>
        <p:nvSpPr>
          <p:cNvPr id="297" name="Google Shape;297;p3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1200"/>
              </a:spcAft>
              <a:buNone/>
            </a:pPr>
            <a:r>
              <a:rPr lang="en"/>
              <a:t>User: You</a:t>
            </a:r>
            <a:br>
              <a:rPr lang="en"/>
            </a:br>
            <a:r>
              <a:rPr lang="en"/>
              <a:t>Host: An application embedding an LLM/Agent and a Client</a:t>
            </a:r>
            <a:br>
              <a:rPr lang="en"/>
            </a:br>
            <a:r>
              <a:rPr lang="en"/>
              <a:t>Agent: A reasoning entity that can decide what it wants to do. A host can contain multiple agents.</a:t>
            </a:r>
            <a:br>
              <a:rPr lang="en"/>
            </a:br>
            <a:r>
              <a:rPr lang="en"/>
              <a:t>Host Policy: Constraints on what agents are allowed to do (i.e. access resources, passwords, credentials etc).</a:t>
            </a:r>
            <a:br>
              <a:rPr lang="en"/>
            </a:br>
            <a:r>
              <a:rPr lang="en"/>
              <a:t>Client: A software component sending messages on behalf of the Host, in response to agent logic, and subject to policy constraints.</a:t>
            </a:r>
            <a:br>
              <a:rPr lang="en"/>
            </a:br>
            <a:r>
              <a:rPr lang="en"/>
              <a:t>Server: A process exposing capabilities that can be accessed via MCP.</a:t>
            </a:r>
            <a:br>
              <a:rPr lang="en"/>
            </a:br>
            <a:br>
              <a:rPr lang="en"/>
            </a:br>
            <a:r>
              <a:rPr lang="en"/>
              <a:t>Only the client gets to talk to the server.  Not the user, not the LLM.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Concepts: Resources</a:t>
            </a:r>
            <a:endParaRPr/>
          </a:p>
        </p:txBody>
      </p:sp>
      <p:sp>
        <p:nvSpPr>
          <p:cNvPr id="303" name="Google Shape;303;p4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85000"/>
          </a:bodyPr>
          <a:lstStyle/>
          <a:p>
            <a:pPr indent="-358140" lvl="0" marL="457200" rtl="0" algn="l">
              <a:spcBef>
                <a:spcPts val="0"/>
              </a:spcBef>
              <a:spcAft>
                <a:spcPts val="0"/>
              </a:spcAft>
              <a:buSzPct val="100000"/>
              <a:buChar char="●"/>
            </a:pPr>
            <a:r>
              <a:rPr lang="en"/>
              <a:t>resources/list for complete enumeration</a:t>
            </a:r>
            <a:endParaRPr/>
          </a:p>
          <a:p>
            <a:pPr indent="-325755" lvl="1" marL="914400" rtl="0" algn="l">
              <a:spcBef>
                <a:spcPts val="0"/>
              </a:spcBef>
              <a:spcAft>
                <a:spcPts val="0"/>
              </a:spcAft>
              <a:buSzPct val="100000"/>
              <a:buChar char="○"/>
            </a:pPr>
            <a:r>
              <a:rPr lang="en"/>
              <a:t>Typically paginated</a:t>
            </a:r>
            <a:endParaRPr/>
          </a:p>
          <a:p>
            <a:pPr indent="-358140" lvl="0" marL="457200" rtl="0" algn="l">
              <a:spcBef>
                <a:spcPts val="0"/>
              </a:spcBef>
              <a:spcAft>
                <a:spcPts val="0"/>
              </a:spcAft>
              <a:buSzPct val="100000"/>
              <a:buChar char="●"/>
            </a:pPr>
            <a:r>
              <a:rPr lang="en"/>
              <a:t>resources/templates/list to discover resource templates</a:t>
            </a:r>
            <a:endParaRPr/>
          </a:p>
          <a:p>
            <a:pPr indent="-325755" lvl="1" marL="914400" rtl="0" algn="l">
              <a:spcBef>
                <a:spcPts val="0"/>
              </a:spcBef>
              <a:spcAft>
                <a:spcPts val="0"/>
              </a:spcAft>
              <a:buSzPct val="100000"/>
              <a:buChar char="○"/>
            </a:pPr>
            <a:r>
              <a:rPr lang="en"/>
              <a:t>Then you can ask for resources within a template</a:t>
            </a:r>
            <a:endParaRPr/>
          </a:p>
          <a:p>
            <a:pPr indent="-358140" lvl="0" marL="457200" rtl="0" algn="l">
              <a:spcBef>
                <a:spcPts val="0"/>
              </a:spcBef>
              <a:spcAft>
                <a:spcPts val="0"/>
              </a:spcAft>
              <a:buSzPct val="100000"/>
              <a:buChar char="●"/>
            </a:pPr>
            <a:r>
              <a:rPr lang="en"/>
              <a:t>Text resources (text, json, xml) and binary resources (base64 encoding for video, audio, images etc).</a:t>
            </a:r>
            <a:endParaRPr/>
          </a:p>
          <a:p>
            <a:pPr indent="-358140" lvl="0" marL="457200" rtl="0" algn="l">
              <a:spcBef>
                <a:spcPts val="0"/>
              </a:spcBef>
              <a:spcAft>
                <a:spcPts val="0"/>
              </a:spcAft>
              <a:buSzPct val="100000"/>
              <a:buChar char="●"/>
            </a:pPr>
            <a:r>
              <a:rPr lang="en"/>
              <a:t>Client asks Server, typically to get information from the server that will help it do its job.</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concepts: Prompts</a:t>
            </a:r>
            <a:endParaRPr/>
          </a:p>
        </p:txBody>
      </p:sp>
      <p:sp>
        <p:nvSpPr>
          <p:cNvPr id="309" name="Google Shape;309;p4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369570" lvl="0" marL="457200" rtl="0" algn="l">
              <a:spcBef>
                <a:spcPts val="0"/>
              </a:spcBef>
              <a:spcAft>
                <a:spcPts val="0"/>
              </a:spcAft>
              <a:buSzPct val="100000"/>
              <a:buChar char="●"/>
            </a:pPr>
            <a:r>
              <a:rPr lang="en"/>
              <a:t>Servers providing advice to Agents</a:t>
            </a:r>
            <a:endParaRPr/>
          </a:p>
          <a:p>
            <a:pPr indent="-369570" lvl="0" marL="457200" rtl="0" algn="l">
              <a:spcBef>
                <a:spcPts val="0"/>
              </a:spcBef>
              <a:spcAft>
                <a:spcPts val="0"/>
              </a:spcAft>
              <a:buSzPct val="100000"/>
              <a:buChar char="●"/>
            </a:pPr>
            <a:r>
              <a:rPr lang="en"/>
              <a:t>Agents can ignore them, they are not </a:t>
            </a:r>
            <a:r>
              <a:rPr lang="en"/>
              <a:t>enforceable</a:t>
            </a:r>
            <a:r>
              <a:rPr lang="en"/>
              <a:t> on the host/client side</a:t>
            </a:r>
            <a:endParaRPr/>
          </a:p>
          <a:p>
            <a:pPr indent="-369570" lvl="0" marL="457200" rtl="0" algn="l">
              <a:spcBef>
                <a:spcPts val="0"/>
              </a:spcBef>
              <a:spcAft>
                <a:spcPts val="0"/>
              </a:spcAft>
              <a:buSzPct val="100000"/>
              <a:buChar char="●"/>
            </a:pPr>
            <a:r>
              <a:rPr lang="en"/>
              <a:t>Server can refuse service to requests that do not meet their prompt requirements</a:t>
            </a:r>
            <a:endParaRPr/>
          </a:p>
          <a:p>
            <a:pPr indent="-369570" lvl="0" marL="457200" rtl="0" algn="l">
              <a:spcBef>
                <a:spcPts val="0"/>
              </a:spcBef>
              <a:spcAft>
                <a:spcPts val="0"/>
              </a:spcAft>
              <a:buSzPct val="100000"/>
              <a:buChar char="●"/>
            </a:pPr>
            <a:r>
              <a:rPr lang="en"/>
              <a:t>prompts/list the endpoint for discovering prompts</a:t>
            </a:r>
            <a:endParaRPr/>
          </a:p>
          <a:p>
            <a:pPr indent="-369570" lvl="0" marL="457200" rtl="0" algn="l">
              <a:spcBef>
                <a:spcPts val="0"/>
              </a:spcBef>
              <a:spcAft>
                <a:spcPts val="0"/>
              </a:spcAft>
              <a:buSzPct val="100000"/>
              <a:buChar char="●"/>
            </a:pPr>
            <a:r>
              <a:rPr lang="en"/>
              <a:t>Client asks server on how best to send it requests to do certain tasks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Concepts: Tools</a:t>
            </a:r>
            <a:endParaRPr/>
          </a:p>
        </p:txBody>
      </p:sp>
      <p:sp>
        <p:nvSpPr>
          <p:cNvPr id="315" name="Google Shape;315;p4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tools/list and tool/call endpoints</a:t>
            </a:r>
            <a:endParaRPr/>
          </a:p>
          <a:p>
            <a:pPr indent="-381000" lvl="0" marL="457200" rtl="0" algn="l">
              <a:spcBef>
                <a:spcPts val="0"/>
              </a:spcBef>
              <a:spcAft>
                <a:spcPts val="0"/>
              </a:spcAft>
              <a:buSzPts val="2400"/>
              <a:buChar char="●"/>
            </a:pPr>
            <a:r>
              <a:rPr lang="en"/>
              <a:t>Allow agent to perform actions.</a:t>
            </a:r>
            <a:endParaRPr/>
          </a:p>
          <a:p>
            <a:pPr indent="-381000" lvl="0" marL="457200" rtl="0" algn="l">
              <a:spcBef>
                <a:spcPts val="0"/>
              </a:spcBef>
              <a:spcAft>
                <a:spcPts val="0"/>
              </a:spcAft>
              <a:buSzPts val="2400"/>
              <a:buChar char="●"/>
            </a:pPr>
            <a:r>
              <a:rPr lang="en"/>
              <a:t>Each tool has a schema attached to it, specifying its expected inputs and outputs.  JSON is used for expressing schema. Inputs fully </a:t>
            </a:r>
            <a:r>
              <a:rPr lang="en"/>
              <a:t>described</a:t>
            </a:r>
            <a:r>
              <a:rPr lang="en"/>
              <a:t>.  Output often only </a:t>
            </a:r>
            <a:r>
              <a:rPr lang="en"/>
              <a:t>describe</a:t>
            </a:r>
            <a:r>
              <a:rPr lang="en"/>
              <a:t> success case.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Concepts: Sampling</a:t>
            </a:r>
            <a:endParaRPr/>
          </a:p>
        </p:txBody>
      </p:sp>
      <p:sp>
        <p:nvSpPr>
          <p:cNvPr id="321" name="Google Shape;321;p4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369570" lvl="0" marL="457200" rtl="0" algn="l">
              <a:spcBef>
                <a:spcPts val="0"/>
              </a:spcBef>
              <a:spcAft>
                <a:spcPts val="0"/>
              </a:spcAft>
              <a:buSzPct val="100000"/>
              <a:buChar char="●"/>
            </a:pPr>
            <a:r>
              <a:rPr lang="en"/>
              <a:t>The server can call the agent/LLM! Why?</a:t>
            </a:r>
            <a:endParaRPr/>
          </a:p>
          <a:p>
            <a:pPr indent="-334328" lvl="1" marL="914400" rtl="0" algn="l">
              <a:spcBef>
                <a:spcPts val="0"/>
              </a:spcBef>
              <a:spcAft>
                <a:spcPts val="0"/>
              </a:spcAft>
              <a:buSzPct val="100000"/>
              <a:buChar char="○"/>
            </a:pPr>
            <a:r>
              <a:rPr lang="en"/>
              <a:t>May need some comments, additional information, rewriting of output, selection of strategy for a task etc.</a:t>
            </a:r>
            <a:endParaRPr/>
          </a:p>
          <a:p>
            <a:pPr indent="-334328" lvl="1" marL="914400" rtl="0" algn="l">
              <a:spcBef>
                <a:spcPts val="0"/>
              </a:spcBef>
              <a:spcAft>
                <a:spcPts val="0"/>
              </a:spcAft>
              <a:buSzPct val="100000"/>
              <a:buChar char="○"/>
            </a:pPr>
            <a:r>
              <a:rPr lang="en"/>
              <a:t>We don’t want the server to make its own decisions so we allow the server to ask the client what it wants to do in those case (within the constraints of both the Host and the Server)</a:t>
            </a:r>
            <a:endParaRPr/>
          </a:p>
          <a:p>
            <a:pPr indent="-334328" lvl="1" marL="914400" rtl="0" algn="l">
              <a:spcBef>
                <a:spcPts val="0"/>
              </a:spcBef>
              <a:spcAft>
                <a:spcPts val="0"/>
              </a:spcAft>
              <a:buSzPct val="100000"/>
              <a:buChar char="○"/>
            </a:pPr>
            <a:r>
              <a:rPr lang="en"/>
              <a:t>Sampling requests are carefully scoped to avoid servers injecting instructions into the client</a:t>
            </a:r>
            <a:endParaRPr/>
          </a:p>
          <a:p>
            <a:pPr indent="-334328" lvl="1" marL="914400" rtl="0" algn="l">
              <a:spcBef>
                <a:spcPts val="0"/>
              </a:spcBef>
              <a:spcAft>
                <a:spcPts val="0"/>
              </a:spcAft>
              <a:buSzPct val="100000"/>
              <a:buChar char="○"/>
            </a:pPr>
            <a:r>
              <a:rPr lang="en"/>
              <a:t>If your host has sensitive data maybe it should not allow sampling!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Concepts: Roots</a:t>
            </a:r>
            <a:endParaRPr/>
          </a:p>
        </p:txBody>
      </p:sp>
      <p:sp>
        <p:nvSpPr>
          <p:cNvPr id="327" name="Google Shape;327;p4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a:t>Sometimes server can operate on client owned data/repo</a:t>
            </a:r>
            <a:endParaRPr/>
          </a:p>
          <a:p>
            <a:pPr indent="-381000" lvl="0" marL="457200" rtl="0" algn="l">
              <a:spcBef>
                <a:spcPts val="0"/>
              </a:spcBef>
              <a:spcAft>
                <a:spcPts val="0"/>
              </a:spcAft>
              <a:buSzPts val="2400"/>
              <a:buChar char="●"/>
            </a:pPr>
            <a:r>
              <a:rPr lang="en"/>
              <a:t>Roots sets boundaries on where the server should operate</a:t>
            </a:r>
            <a:endParaRPr/>
          </a:p>
          <a:p>
            <a:pPr indent="-381000" lvl="0" marL="457200" rtl="0" algn="l">
              <a:spcBef>
                <a:spcPts val="0"/>
              </a:spcBef>
              <a:spcAft>
                <a:spcPts val="0"/>
              </a:spcAft>
              <a:buSzPts val="2400"/>
              <a:buChar char="●"/>
            </a:pPr>
            <a:r>
              <a:rPr lang="en"/>
              <a:t>Boundaries are not </a:t>
            </a:r>
            <a:r>
              <a:rPr lang="en"/>
              <a:t>enforceable</a:t>
            </a:r>
            <a:r>
              <a:rPr lang="en"/>
              <a:t>!</a:t>
            </a:r>
            <a:endParaRPr/>
          </a:p>
          <a:p>
            <a:pPr indent="-381000" lvl="0" marL="457200" rtl="0" algn="l">
              <a:spcBef>
                <a:spcPts val="0"/>
              </a:spcBef>
              <a:spcAft>
                <a:spcPts val="0"/>
              </a:spcAft>
              <a:buSzPts val="2400"/>
              <a:buChar char="●"/>
            </a:pPr>
            <a:r>
              <a:rPr lang="en"/>
              <a:t>Roots are irrelevant if servers operate on their own data</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Errors</a:t>
            </a:r>
            <a:endParaRPr/>
          </a:p>
        </p:txBody>
      </p:sp>
      <p:sp>
        <p:nvSpPr>
          <p:cNvPr id="333" name="Google Shape;333;p4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a:t>Transport level (HTTP) errors</a:t>
            </a:r>
            <a:endParaRPr/>
          </a:p>
          <a:p>
            <a:pPr indent="-381000" lvl="0" marL="457200" rtl="0" algn="l">
              <a:spcBef>
                <a:spcPts val="0"/>
              </a:spcBef>
              <a:spcAft>
                <a:spcPts val="0"/>
              </a:spcAft>
              <a:buSzPts val="2400"/>
              <a:buChar char="●"/>
            </a:pPr>
            <a:r>
              <a:rPr lang="en"/>
              <a:t>MCP Protocol </a:t>
            </a:r>
            <a:r>
              <a:rPr lang="en"/>
              <a:t>errors (i.e. bad argument, unavailable method, permissions)</a:t>
            </a:r>
            <a:endParaRPr/>
          </a:p>
          <a:p>
            <a:pPr indent="-381000" lvl="0" marL="457200" rtl="0" algn="l">
              <a:spcBef>
                <a:spcPts val="0"/>
              </a:spcBef>
              <a:spcAft>
                <a:spcPts val="0"/>
              </a:spcAft>
              <a:buSzPts val="2400"/>
              <a:buChar char="●"/>
            </a:pPr>
            <a:r>
              <a:rPr lang="en"/>
              <a:t>Tool execution errors</a:t>
            </a:r>
            <a:endParaRPr/>
          </a:p>
          <a:p>
            <a:pPr indent="-381000" lvl="0" marL="457200" rtl="0" algn="l">
              <a:spcBef>
                <a:spcPts val="0"/>
              </a:spcBef>
              <a:spcAft>
                <a:spcPts val="0"/>
              </a:spcAft>
              <a:buSzPts val="2400"/>
              <a:buChar char="●"/>
            </a:pPr>
            <a:r>
              <a:rPr lang="en"/>
              <a:t>Lifecycle (capability, session, etc)</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Protocol and Lifecycle Errors</a:t>
            </a:r>
            <a:endParaRPr/>
          </a:p>
        </p:txBody>
      </p:sp>
      <p:sp>
        <p:nvSpPr>
          <p:cNvPr id="339" name="Google Shape;339;p4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Arial"/>
                <a:ea typeface="Arial"/>
                <a:cs typeface="Arial"/>
                <a:sym typeface="Arial"/>
              </a:rPr>
              <a:t>Code		Name			Meaning in MCP			Agent action</a:t>
            </a:r>
            <a:endParaRPr b="1" sz="1200">
              <a:latin typeface="Arial"/>
              <a:ea typeface="Arial"/>
              <a:cs typeface="Arial"/>
              <a:sym typeface="Arial"/>
            </a:endParaRPr>
          </a:p>
          <a:p>
            <a:pPr indent="0" lvl="0" marL="0" rtl="0" algn="l">
              <a:lnSpc>
                <a:spcPct val="100000"/>
              </a:lnSpc>
              <a:spcBef>
                <a:spcPts val="0"/>
              </a:spcBef>
              <a:spcAft>
                <a:spcPts val="0"/>
              </a:spcAft>
              <a:buNone/>
            </a:pPr>
            <a:r>
              <a:rPr lang="en" sz="1200">
                <a:latin typeface="Roboto Mono"/>
                <a:ea typeface="Roboto Mono"/>
                <a:cs typeface="Roboto Mono"/>
                <a:sym typeface="Roboto Mono"/>
              </a:rPr>
              <a:t>-32700	</a:t>
            </a:r>
            <a:r>
              <a:rPr lang="en" sz="1200">
                <a:latin typeface="Arial"/>
                <a:ea typeface="Arial"/>
                <a:cs typeface="Arial"/>
                <a:sym typeface="Arial"/>
              </a:rPr>
              <a:t>Parse error		Invalid JSON				Do not retry</a:t>
            </a:r>
            <a:endParaRPr sz="1200">
              <a:latin typeface="Arial"/>
              <a:ea typeface="Arial"/>
              <a:cs typeface="Arial"/>
              <a:sym typeface="Arial"/>
            </a:endParaRPr>
          </a:p>
          <a:p>
            <a:pPr indent="0" lvl="0" marL="0" rtl="0" algn="l">
              <a:lnSpc>
                <a:spcPct val="100000"/>
              </a:lnSpc>
              <a:spcBef>
                <a:spcPts val="0"/>
              </a:spcBef>
              <a:spcAft>
                <a:spcPts val="0"/>
              </a:spcAft>
              <a:buNone/>
            </a:pPr>
            <a:r>
              <a:rPr lang="en" sz="1200">
                <a:latin typeface="Roboto Mono"/>
                <a:ea typeface="Roboto Mono"/>
                <a:cs typeface="Roboto Mono"/>
                <a:sym typeface="Roboto Mono"/>
              </a:rPr>
              <a:t>-32600	</a:t>
            </a:r>
            <a:r>
              <a:rPr lang="en" sz="1200">
                <a:latin typeface="Arial"/>
                <a:ea typeface="Arial"/>
                <a:cs typeface="Arial"/>
                <a:sym typeface="Arial"/>
              </a:rPr>
              <a:t>Invalid Request	Malformed MCP message		Do not retry</a:t>
            </a:r>
            <a:endParaRPr sz="1200">
              <a:latin typeface="Arial"/>
              <a:ea typeface="Arial"/>
              <a:cs typeface="Arial"/>
              <a:sym typeface="Arial"/>
            </a:endParaRPr>
          </a:p>
          <a:p>
            <a:pPr indent="0" lvl="0" marL="0" rtl="0" algn="l">
              <a:lnSpc>
                <a:spcPct val="100000"/>
              </a:lnSpc>
              <a:spcBef>
                <a:spcPts val="0"/>
              </a:spcBef>
              <a:spcAft>
                <a:spcPts val="0"/>
              </a:spcAft>
              <a:buNone/>
            </a:pPr>
            <a:r>
              <a:rPr lang="en" sz="1200">
                <a:latin typeface="Roboto Mono"/>
                <a:ea typeface="Roboto Mono"/>
                <a:cs typeface="Roboto Mono"/>
                <a:sym typeface="Roboto Mono"/>
              </a:rPr>
              <a:t>-32601	</a:t>
            </a:r>
            <a:r>
              <a:rPr lang="en" sz="1200">
                <a:latin typeface="Arial"/>
                <a:ea typeface="Arial"/>
                <a:cs typeface="Arial"/>
                <a:sym typeface="Arial"/>
              </a:rPr>
              <a:t>Method not found	Tool / method does not exist	Fix tool name</a:t>
            </a:r>
            <a:endParaRPr sz="1200">
              <a:latin typeface="Arial"/>
              <a:ea typeface="Arial"/>
              <a:cs typeface="Arial"/>
              <a:sym typeface="Arial"/>
            </a:endParaRPr>
          </a:p>
          <a:p>
            <a:pPr indent="0" lvl="0" marL="0" rtl="0" algn="l">
              <a:lnSpc>
                <a:spcPct val="100000"/>
              </a:lnSpc>
              <a:spcBef>
                <a:spcPts val="0"/>
              </a:spcBef>
              <a:spcAft>
                <a:spcPts val="0"/>
              </a:spcAft>
              <a:buNone/>
            </a:pPr>
            <a:r>
              <a:rPr lang="en" sz="1200">
                <a:latin typeface="Roboto Mono"/>
                <a:ea typeface="Roboto Mono"/>
                <a:cs typeface="Roboto Mono"/>
                <a:sym typeface="Roboto Mono"/>
              </a:rPr>
              <a:t>-32602	</a:t>
            </a:r>
            <a:r>
              <a:rPr lang="en" sz="1200">
                <a:latin typeface="Arial"/>
                <a:ea typeface="Arial"/>
                <a:cs typeface="Arial"/>
                <a:sym typeface="Arial"/>
              </a:rPr>
              <a:t>Invalid params	Arguments fail schema / shape	Fix arguments</a:t>
            </a:r>
            <a:endParaRPr sz="1200">
              <a:latin typeface="Arial"/>
              <a:ea typeface="Arial"/>
              <a:cs typeface="Arial"/>
              <a:sym typeface="Arial"/>
            </a:endParaRPr>
          </a:p>
          <a:p>
            <a:pPr indent="0" lvl="0" marL="0" rtl="0" algn="l">
              <a:lnSpc>
                <a:spcPct val="100000"/>
              </a:lnSpc>
              <a:spcBef>
                <a:spcPts val="0"/>
              </a:spcBef>
              <a:spcAft>
                <a:spcPts val="0"/>
              </a:spcAft>
              <a:buNone/>
            </a:pPr>
            <a:r>
              <a:rPr lang="en" sz="1200">
                <a:latin typeface="Roboto Mono"/>
                <a:ea typeface="Roboto Mono"/>
                <a:cs typeface="Roboto Mono"/>
                <a:sym typeface="Roboto Mono"/>
              </a:rPr>
              <a:t>-32603	</a:t>
            </a:r>
            <a:r>
              <a:rPr lang="en" sz="1200">
                <a:latin typeface="Arial"/>
                <a:ea typeface="Arial"/>
                <a:cs typeface="Arial"/>
                <a:sym typeface="Arial"/>
              </a:rPr>
              <a:t>Internal error		Server failed before execution	Retry cautiously</a:t>
            </a:r>
            <a:endParaRPr sz="1200">
              <a:latin typeface="Arial"/>
              <a:ea typeface="Arial"/>
              <a:cs typeface="Arial"/>
              <a:sym typeface="Arial"/>
            </a:endParaRPr>
          </a:p>
          <a:p>
            <a:pPr indent="0" lvl="0" marL="0" rtl="0" algn="l">
              <a:spcBef>
                <a:spcPts val="0"/>
              </a:spcBef>
              <a:spcAft>
                <a:spcPts val="0"/>
              </a:spcAft>
              <a:buNone/>
            </a:pPr>
            <a:br>
              <a:rPr lang="en" sz="1200"/>
            </a:br>
            <a:r>
              <a:rPr lang="en" sz="1200"/>
              <a:t>{</a:t>
            </a:r>
            <a:br>
              <a:rPr lang="en" sz="1200"/>
            </a:br>
            <a:r>
              <a:rPr lang="en" sz="1200"/>
              <a:t>  "jsonrpc": "2.0",</a:t>
            </a:r>
            <a:br>
              <a:rPr lang="en" sz="1200"/>
            </a:br>
            <a:r>
              <a:rPr lang="en" sz="1200"/>
              <a:t>  "id": 7</a:t>
            </a:r>
            <a:br>
              <a:rPr lang="en" sz="1200"/>
            </a:br>
            <a:r>
              <a:rPr lang="en" sz="1200"/>
              <a:t>  "error": {</a:t>
            </a:r>
            <a:br>
              <a:rPr lang="en" sz="1200"/>
            </a:br>
            <a:r>
              <a:rPr lang="en" sz="1200"/>
              <a:t>    "code": -32602,</a:t>
            </a:r>
            <a:br>
              <a:rPr lang="en" sz="1200"/>
            </a:br>
            <a:r>
              <a:rPr lang="en" sz="1200"/>
              <a:t>    "message": "Invalid params: missing required field 'path'"</a:t>
            </a:r>
            <a:br>
              <a:rPr lang="en" sz="1200"/>
            </a:br>
            <a:r>
              <a:rPr lang="en" sz="1200"/>
              <a:t>  }</a:t>
            </a:r>
            <a:br>
              <a:rPr lang="en" sz="1200"/>
            </a:br>
            <a:r>
              <a:rPr lang="en" sz="1200"/>
              <a:t>}</a:t>
            </a:r>
            <a:endParaRPr sz="1200"/>
          </a:p>
          <a:p>
            <a:pPr indent="0" lvl="0" marL="0" rtl="0" algn="l">
              <a:spcBef>
                <a:spcPts val="1200"/>
              </a:spcBef>
              <a:spcAft>
                <a:spcPts val="0"/>
              </a:spcAft>
              <a:buNone/>
            </a:pPr>
            <a:r>
              <a:t/>
            </a:r>
            <a:endParaRPr sz="1200"/>
          </a:p>
          <a:p>
            <a:pPr indent="0" lvl="0" marL="0" rtl="0" algn="l">
              <a:spcBef>
                <a:spcPts val="1200"/>
              </a:spcBef>
              <a:spcAft>
                <a:spcPts val="1200"/>
              </a:spcAft>
              <a:buNone/>
            </a:pPr>
            <a:r>
              <a:t/>
            </a: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MCP Tool execution errors</a:t>
            </a:r>
            <a:endParaRPr/>
          </a:p>
        </p:txBody>
      </p:sp>
      <p:sp>
        <p:nvSpPr>
          <p:cNvPr id="345" name="Google Shape;345;p47"/>
          <p:cNvSpPr txBox="1"/>
          <p:nvPr>
            <p:ph idx="1" type="body"/>
          </p:nvPr>
        </p:nvSpPr>
        <p:spPr>
          <a:xfrm>
            <a:off x="1297500" y="1116150"/>
            <a:ext cx="7038900" cy="2911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5600"/>
              <a:t>{</a:t>
            </a:r>
            <a:br>
              <a:rPr lang="en" sz="5600"/>
            </a:br>
            <a:r>
              <a:rPr lang="en" sz="5600"/>
              <a:t> "jsonrpc": "2.0",</a:t>
            </a:r>
            <a:br>
              <a:rPr lang="en" sz="5600"/>
            </a:br>
            <a:r>
              <a:rPr lang="en" sz="5600"/>
              <a:t>  "id": 12,</a:t>
            </a:r>
            <a:br>
              <a:rPr lang="en" sz="5600"/>
            </a:br>
            <a:r>
              <a:rPr lang="en" sz="5600"/>
              <a:t>  "result": {</a:t>
            </a:r>
            <a:br>
              <a:rPr lang="en" sz="5600"/>
            </a:br>
            <a:r>
              <a:rPr lang="en" sz="5600"/>
              <a:t>    "content": [</a:t>
            </a:r>
            <a:br>
              <a:rPr lang="en" sz="5600"/>
            </a:br>
            <a:r>
              <a:rPr lang="en" sz="5600"/>
              <a:t>      {</a:t>
            </a:r>
            <a:br>
              <a:rPr lang="en" sz="5600"/>
            </a:br>
            <a:r>
              <a:rPr lang="en" sz="5600"/>
              <a:t>        "type": "text",</a:t>
            </a:r>
            <a:br>
              <a:rPr lang="en" sz="5600"/>
            </a:br>
            <a:r>
              <a:rPr lang="en" sz="5600"/>
              <a:t>        "text": "Access denied: path is outside allowed root"</a:t>
            </a:r>
            <a:br>
              <a:rPr lang="en" sz="5600"/>
            </a:br>
            <a:r>
              <a:rPr lang="en" sz="5600"/>
              <a:t>      }</a:t>
            </a:r>
            <a:br>
              <a:rPr lang="en" sz="5600"/>
            </a:br>
            <a:r>
              <a:rPr lang="en" sz="5600"/>
              <a:t>    ],</a:t>
            </a:r>
            <a:br>
              <a:rPr lang="en" sz="5600"/>
            </a:br>
            <a:r>
              <a:rPr lang="en" sz="5600"/>
              <a:t>    "isError": true</a:t>
            </a:r>
            <a:br>
              <a:rPr lang="en" sz="5600"/>
            </a:br>
            <a:r>
              <a:rPr lang="en" sz="5600"/>
              <a:t>  }</a:t>
            </a:r>
            <a:br>
              <a:rPr lang="en" sz="5600"/>
            </a:br>
            <a:r>
              <a:rPr lang="en" sz="5600"/>
              <a:t>}</a:t>
            </a:r>
            <a:br>
              <a:rPr lang="en" sz="5600"/>
            </a:br>
            <a:br>
              <a:rPr lang="en" sz="5600"/>
            </a:br>
            <a:r>
              <a:rPr lang="en" sz="5600"/>
              <a:t>Tool execution failures do not return an actual error but a result </a:t>
            </a:r>
            <a:r>
              <a:rPr lang="en" sz="5600"/>
              <a:t>with</a:t>
            </a:r>
            <a:r>
              <a:rPr lang="en" sz="5600"/>
              <a:t> the isError boolean set to true!</a:t>
            </a:r>
            <a:endParaRPr sz="56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Quick Demo</a:t>
            </a:r>
            <a:endParaRPr/>
          </a:p>
        </p:txBody>
      </p:sp>
      <p:sp>
        <p:nvSpPr>
          <p:cNvPr id="351" name="Google Shape;351;p4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latin typeface="Arial"/>
                <a:ea typeface="Arial"/>
                <a:cs typeface="Arial"/>
                <a:sym typeface="Arial"/>
              </a:rPr>
              <a:t># npx @modelcontextprotocol/inspector (A nodeJS MCP inspector library)</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rPr lang="en" sz="1400">
                <a:latin typeface="Arial"/>
                <a:ea typeface="Arial"/>
                <a:cs typeface="Arial"/>
                <a:sym typeface="Arial"/>
              </a:rPr>
              <a:t>Connect to http://localhost:6274/?MCP_PROXY_AUTH_TOKEN=XXXXXXX</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rPr lang="en" sz="1400">
                <a:latin typeface="Arial"/>
                <a:ea typeface="Arial"/>
                <a:cs typeface="Arial"/>
                <a:sym typeface="Arial"/>
              </a:rPr>
              <a:t>Set server to </a:t>
            </a:r>
            <a:r>
              <a:rPr lang="en" sz="1400" u="sng">
                <a:solidFill>
                  <a:schemeClr val="hlink"/>
                </a:solidFill>
                <a:latin typeface="Arial"/>
                <a:ea typeface="Arial"/>
                <a:cs typeface="Arial"/>
                <a:sym typeface="Arial"/>
                <a:hlinkClick r:id="rId3"/>
              </a:rPr>
              <a:t>https://learn.microsoft.com/api/mcp</a:t>
            </a:r>
            <a:r>
              <a:rPr lang="en" sz="1400">
                <a:latin typeface="Arial"/>
                <a:ea typeface="Arial"/>
                <a:cs typeface="Arial"/>
                <a:sym typeface="Arial"/>
              </a:rPr>
              <a:t> and protocols to streamable HTTP</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rPr lang="en" sz="1400">
                <a:latin typeface="Arial"/>
                <a:ea typeface="Arial"/>
                <a:cs typeface="Arial"/>
                <a:sym typeface="Arial"/>
              </a:rPr>
              <a:t>Browse the resources, </a:t>
            </a:r>
            <a:r>
              <a:rPr lang="en" sz="1400">
                <a:latin typeface="Arial"/>
                <a:ea typeface="Arial"/>
                <a:cs typeface="Arial"/>
                <a:sym typeface="Arial"/>
              </a:rPr>
              <a:t>tools</a:t>
            </a:r>
            <a:r>
              <a:rPr lang="en" sz="1400">
                <a:latin typeface="Arial"/>
                <a:ea typeface="Arial"/>
                <a:cs typeface="Arial"/>
                <a:sym typeface="Arial"/>
              </a:rPr>
              <a:t>, prompts, roots, etc.</a:t>
            </a:r>
            <a:endParaRPr sz="1400">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Attendance poll</a:t>
            </a:r>
            <a:endParaRPr/>
          </a:p>
        </p:txBody>
      </p:sp>
      <p:sp>
        <p:nvSpPr>
          <p:cNvPr id="357" name="Google Shape;357;p4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3"/>
              </a:rPr>
              <a:t>https://piazza.com/class/mkctevprups13o/post/159</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