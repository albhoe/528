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CAD19E-24E4-41B7-903F-16C3F88783C2}">
  <a:tblStyle styleId="{EACAD19E-24E4-41B7-903F-16C3F88783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Roboto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font" Target="fonts/Roboto-regular.fntdata"/><Relationship Id="rId36" Type="http://schemas.openxmlformats.org/officeDocument/2006/relationships/slide" Target="slides/slide30.xml"/><Relationship Id="rId39" Type="http://schemas.openxmlformats.org/officeDocument/2006/relationships/font" Target="fonts/Roboto-italic.fntdata"/><Relationship Id="rId38" Type="http://schemas.openxmlformats.org/officeDocument/2006/relationships/font" Target="fonts/Roboto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7b4fd8e1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7b4fd8e1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7b4fd8e10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7b4fd8e10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b4fd8e10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b4fd8e10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b59dfe00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b59dfe00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7b4fd8e10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7b4fd8e10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b4fd8e1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b4fd8e1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7b4fd8e1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b4fd8e1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7b4fd8e10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7b4fd8e10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b4fd8e10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7b4fd8e10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1227c3153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1227c3153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relationship between DoS and Firewalls?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227c315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1227c315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7b4fd8e10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b4fd8e10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creating the network-lb address you can specify --addresses to make it a reserved IP address though it’s not that big of a benefit.</a:t>
            </a:r>
            <a:br>
              <a:rPr lang="en"/>
            </a:br>
            <a:br>
              <a:rPr lang="en"/>
            </a:br>
            <a:r>
              <a:rPr lang="en"/>
              <a:t>In the demo show </a:t>
            </a:r>
            <a:r>
              <a:rPr lang="en"/>
              <a:t>what</a:t>
            </a:r>
            <a:r>
              <a:rPr lang="en"/>
              <a:t> happens when a VM is stopped and restarted.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show what healthchecks look like.</a:t>
            </a:r>
            <a:br>
              <a:rPr lang="en"/>
            </a:br>
            <a:br>
              <a:rPr lang="en"/>
            </a:br>
            <a:r>
              <a:rPr lang="en"/>
              <a:t>Explain that healthchecks expect a 200 response to consider something healthy. Corner case is when all backends are unhealthy.  Loadbalancer assumes all are healthy.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b4fd8e10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b4fd8e10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7b4fd8e100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7b4fd8e10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1227c315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1227c315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7b4fd8e10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7b4fd8e10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1227c3153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1227c3153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Explain how IP translation works between backend instances and the load balancer.  Notice this is a passthrough load balancer with direct response.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7b4fd8e10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b4fd8e1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7b4fd8e10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7b4fd8e10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b4fd8e10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b4fd8e10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7b4fd8e10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7b4fd8e10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4a59a96f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4a59a96f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7b4fd8e10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7b4fd8e10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7b59dfe0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7b59dfe0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b59dfe00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b59dfe0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7b59dfe00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7b59dfe00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b59dfe00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7b59dfe00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7b59dfe00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7b59dfe00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97297427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97297427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oud.google.com/vpc/network-pricing#lb" TargetMode="External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loud.google.com/load-balancing/docs/network/setting-up-network" TargetMode="External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loud.google.com/load-balancing/docs/network/setting-up-network" TargetMode="External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loud.google.com/firewall/docs/firewalls#firewall_rule_components" TargetMode="External"/><Relationship Id="rId4" Type="http://schemas.openxmlformats.org/officeDocument/2006/relationships/hyperlink" Target="https://cloud.google.com/firewall/docs/firewall-policies-overview" TargetMode="External"/><Relationship Id="rId5" Type="http://schemas.openxmlformats.org/officeDocument/2006/relationships/hyperlink" Target="https://console.cloud.google.com/net-security/firewall-manager/firewall-policies/list?referrer=search&amp;cloudshell=true&amp;project=cloudcomputingcourse-380619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loud.google.com/load-balancing/docs/health-check-concepts" TargetMode="External"/><Relationship Id="rId4" Type="http://schemas.openxmlformats.org/officeDocument/2006/relationships/hyperlink" Target="https://cloud.google.com/load-balancing/docs/health-check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loud.google.com/load-balancing/docs/network/setting-up-network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loud.google.com/load-balancing/docs/network/setting-up-network" TargetMode="External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loud.google.com/load-balancing/docs/network/setting-up-network-backend-service" TargetMode="External"/><Relationship Id="rId4" Type="http://schemas.openxmlformats.org/officeDocument/2006/relationships/hyperlink" Target="https://cloud.google.com/load-balancing/docs/network/setting-up-networklb-multiple-protocols" TargetMode="External"/><Relationship Id="rId5" Type="http://schemas.openxmlformats.org/officeDocument/2006/relationships/hyperlink" Target="https://cloud.google.com/load-balancing/docs/network/networklb-monitoring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loud.google.com/load-balancing/docs/network/networklb-target-pools" TargetMode="External"/><Relationship Id="rId4" Type="http://schemas.openxmlformats.org/officeDocument/2006/relationships/hyperlink" Target="https://cloud.google.com/load-balancing/docs/network/networklb-target-pools" TargetMode="External"/><Relationship Id="rId5" Type="http://schemas.openxmlformats.org/officeDocument/2006/relationships/hyperlink" Target="https://cloud.google.com/load-balancing/docs/network/networklb-target-pool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cloud.google.com/load-balancing/docs/https/ext-https-lb-simpl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cloud.google.com/vpc/docs/overview" TargetMode="External"/><Relationship Id="rId4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docs.google.com/document/d/1aPzFCeUObbavkJq0njjpQW8gaacuDMttTkYmNivonGA/edi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piazza.com/class/mkctevprups13o/post/161" TargetMode="External"/><Relationship Id="rId4" Type="http://schemas.openxmlformats.org/officeDocument/2006/relationships/hyperlink" Target="https://www.usenix.org/system/files/conference/nsdi18/nsdi18-dalton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1009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Private Cloud and Load Balancers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Leonidas Kontothanassis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050150" y="1551050"/>
            <a:ext cx="3649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What are they good for?</a:t>
            </a:r>
            <a:endParaRPr/>
          </a:p>
          <a:p>
            <a:pPr indent="-33432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Distribute requests to backends that process them based on their health, their load and sometimes other characteristics (data affinity, request state, regulatory considerations, etc.)</a:t>
            </a:r>
            <a:endParaRPr/>
          </a:p>
        </p:txBody>
      </p:sp>
      <p:grpSp>
        <p:nvGrpSpPr>
          <p:cNvPr id="142" name="Google Shape;142;p14"/>
          <p:cNvGrpSpPr/>
          <p:nvPr/>
        </p:nvGrpSpPr>
        <p:grpSpPr>
          <a:xfrm>
            <a:off x="4872925" y="1673775"/>
            <a:ext cx="4048674" cy="2343150"/>
            <a:chOff x="2777367" y="443681"/>
            <a:chExt cx="6058169" cy="3407723"/>
          </a:xfrm>
        </p:grpSpPr>
        <p:pic>
          <p:nvPicPr>
            <p:cNvPr id="143" name="Google Shape;143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77367" y="443681"/>
              <a:ext cx="6058169" cy="34077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" name="Google Shape;144;p14"/>
            <p:cNvSpPr/>
            <p:nvPr/>
          </p:nvSpPr>
          <p:spPr>
            <a:xfrm>
              <a:off x="6107900" y="810650"/>
              <a:ext cx="1006500" cy="573000"/>
            </a:xfrm>
            <a:prstGeom prst="roundRect">
              <a:avLst>
                <a:gd fmla="val 16667" name="adj"/>
              </a:avLst>
            </a:prstGeom>
            <a:solidFill>
              <a:srgbClr val="82C7A5"/>
            </a:solidFill>
            <a:ln cap="flat" cmpd="sng" w="9525">
              <a:solidFill>
                <a:srgbClr val="D9D9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 txBox="1"/>
            <p:nvPr/>
          </p:nvSpPr>
          <p:spPr>
            <a:xfrm>
              <a:off x="6107907" y="810646"/>
              <a:ext cx="1364400" cy="5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Cache</a:t>
              </a:r>
              <a:endParaRPr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6" name="Google Shape;146;p14"/>
          <p:cNvSpPr txBox="1"/>
          <p:nvPr/>
        </p:nvSpPr>
        <p:spPr>
          <a:xfrm>
            <a:off x="5087325" y="2696192"/>
            <a:ext cx="709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L3 LB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087325" y="3332525"/>
            <a:ext cx="709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L3 LB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8" name="Google Shape;148;p14"/>
          <p:cNvCxnSpPr>
            <a:endCxn id="145" idx="2"/>
          </p:cNvCxnSpPr>
          <p:nvPr/>
        </p:nvCxnSpPr>
        <p:spPr>
          <a:xfrm flipH="1" rot="10800000">
            <a:off x="7449339" y="2326283"/>
            <a:ext cx="105300" cy="2286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Balancers on GCP</a:t>
            </a:r>
            <a:endParaRPr/>
          </a:p>
        </p:txBody>
      </p:sp>
      <p:sp>
        <p:nvSpPr>
          <p:cNvPr id="154" name="Google Shape;154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Two kinds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Load Balancer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HTTP Load Balancer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Balancers on GCP </a:t>
            </a:r>
            <a:endParaRPr/>
          </a:p>
        </p:txBody>
      </p:sp>
      <p:graphicFrame>
        <p:nvGraphicFramePr>
          <p:cNvPr id="160" name="Google Shape;160;p1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{EACAD19E-24E4-41B7-903F-16C3F88783C2}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Network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HTTP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Traffic Type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Any IP traffic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HTTP only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Complexity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Low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High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Deployment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Regional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Global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Balancing Ability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Coarse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Fine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 Pricing</a:t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186675" y="15173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Load balancer costs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Egress costs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https://cloud.google.com/vpc/network-pricing#lb</a:t>
            </a:r>
            <a:r>
              <a:rPr lang="en"/>
              <a:t> </a:t>
            </a:r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2550" y="1665800"/>
            <a:ext cx="5568099" cy="19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</a:t>
            </a:r>
            <a:r>
              <a:rPr lang="en"/>
              <a:t> Load Balancer Flow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the backend instances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Create/update firewall rules for those instances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 the load balancing service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Create load balancer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Configure backends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Configure health checks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Configure forwarding rule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Send traffic!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Backend Instances</a:t>
            </a:r>
            <a:endParaRPr/>
          </a:p>
        </p:txBody>
      </p:sp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 create 2-3 VM instances that will run your backend server (See below example for command line)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instances create www1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--zone=us-south1-b \</a:t>
            </a:r>
            <a:br>
              <a:rPr lang="en" sz="1150">
                <a:latin typeface="Arial"/>
                <a:ea typeface="Arial"/>
                <a:cs typeface="Arial"/>
                <a:sym typeface="Arial"/>
              </a:rPr>
            </a:br>
            <a:r>
              <a:rPr lang="en" sz="1150">
                <a:latin typeface="Arial"/>
                <a:ea typeface="Arial"/>
                <a:cs typeface="Arial"/>
                <a:sym typeface="Arial"/>
              </a:rPr>
              <a:t>  --tags=my-lb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--machine-type=e2-micro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--image-family=debian-12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--image-project=debian-cloud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--metadata=startup-script='#!/bin/bash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  apt-get update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  apt-get install apache2 -y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  service apache2 restart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  echo "&lt;h3&gt;Web Server: www1&lt;/h3&gt;" | tee /var/www/html/index.html'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Make sure to replace the zone and tag with one that makes sense for you.</a:t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Backend Instances </a:t>
            </a:r>
            <a:endParaRPr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3274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Or use the console</a:t>
            </a:r>
            <a:endParaRPr/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150" y="1307850"/>
            <a:ext cx="4122456" cy="3530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</a:t>
            </a:r>
            <a:r>
              <a:rPr lang="en"/>
              <a:t> Firewall Rules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# Create the firewall and set its TAG to the TAG of the instances you created earlier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firewall-rules create www-firewall-network-lb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--target-tags my-lb --allow tcp:80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instances list (Get the IP addresses and see if they work)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Firewall Rules </a:t>
            </a:r>
            <a:endParaRPr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297500" y="1567550"/>
            <a:ext cx="2817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Or use the console</a:t>
            </a:r>
            <a:endParaRPr/>
          </a:p>
        </p:txBody>
      </p:sp>
      <p:pic>
        <p:nvPicPr>
          <p:cNvPr id="199" name="Google Shape;19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450" y="1460250"/>
            <a:ext cx="4717150" cy="309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 Rules vs Policies</a:t>
            </a:r>
            <a:endParaRPr/>
          </a:p>
        </p:txBody>
      </p:sp>
      <p:sp>
        <p:nvSpPr>
          <p:cNvPr id="205" name="Google Shape;20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Firewall Rules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https://cloud.google.com/firewall/docs/firewalls#firewall_rule_components</a:t>
            </a:r>
            <a:r>
              <a:rPr lang="en"/>
              <a:t> 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Direction, priority, action, enforcement, target tag, source or destination filter, protocol, logging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Firewall policies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https://cloud.google.com/firewall/docs/firewall-policies-overview</a:t>
            </a:r>
            <a:r>
              <a:rPr lang="en"/>
              <a:t> </a:t>
            </a:r>
            <a:endParaRPr/>
          </a:p>
          <a:p>
            <a:pPr indent="-32575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Groups of rules applies to orgs, projects, subnets or other larger entities (not just tagged </a:t>
            </a:r>
            <a:r>
              <a:rPr lang="en"/>
              <a:t>objects</a:t>
            </a:r>
            <a:r>
              <a:rPr lang="en"/>
              <a:t>)’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Firewall configuration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1254963" y="1522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Firewall rules and policy order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312" y="809275"/>
            <a:ext cx="5287374" cy="424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load balancer</a:t>
            </a:r>
            <a:endParaRPr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addresses create network-lb-ip-1 --region us-south1 (Configure the network load balancer)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http-health-checks create basic-check (Health checker created, this one does nothing let’s check the </a:t>
            </a:r>
            <a:r>
              <a:rPr lang="en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documentation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documentation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target-pools create www-pool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--region us-south1 --http-health-check basic-check (Create a pool that the healthchecker will check)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target-pools add-instances www-pool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--instances www1,www2,www3 --instances-zone=us-south1-b (Add your instances to the pool)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forwarding-rules create www-rule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--region  us-south1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--ports 80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--address network-lb-ip-1 \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    --target-pool www-pool (Add a forwarding rule telling the load balancer to forward to the instances, if they are healthy)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forwarding-rules describe www-rule --region us-south1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 (Find the external IP of your load balancer)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IPADDRESS=$(gcloud compute forwarding-rules describe www-rule --region us-south1 --format="json" | jq -r .IPAddress) (Extract the IP address from the previous command)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while true; do curl -m1 $IPADDRESS ; sleep 1; done (Send requests to the load balancer and see who responds).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1297500" y="393750"/>
            <a:ext cx="2602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Load</a:t>
            </a:r>
            <a:br>
              <a:rPr lang="en"/>
            </a:br>
            <a:r>
              <a:rPr lang="en"/>
              <a:t>Balancer</a:t>
            </a:r>
            <a:endParaRPr/>
          </a:p>
        </p:txBody>
      </p:sp>
      <p:sp>
        <p:nvSpPr>
          <p:cNvPr id="223" name="Google Shape;223;p26"/>
          <p:cNvSpPr txBox="1"/>
          <p:nvPr>
            <p:ph idx="1" type="body"/>
          </p:nvPr>
        </p:nvSpPr>
        <p:spPr>
          <a:xfrm>
            <a:off x="1297500" y="1567550"/>
            <a:ext cx="2701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Or use the console</a:t>
            </a:r>
            <a:endParaRPr/>
          </a:p>
        </p:txBody>
      </p:sp>
      <p:pic>
        <p:nvPicPr>
          <p:cNvPr id="224" name="Google Shape;22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1400" y="152400"/>
            <a:ext cx="412518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1297500" y="393750"/>
            <a:ext cx="2602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Load</a:t>
            </a:r>
            <a:br>
              <a:rPr lang="en"/>
            </a:br>
            <a:r>
              <a:rPr lang="en"/>
              <a:t>Balancer #2</a:t>
            </a:r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1297500" y="1567550"/>
            <a:ext cx="2701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Or use the console</a:t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6325" y="1670625"/>
            <a:ext cx="5545826" cy="19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Cleaning up</a:t>
            </a:r>
            <a:endParaRPr/>
          </a:p>
        </p:txBody>
      </p:sp>
      <p:sp>
        <p:nvSpPr>
          <p:cNvPr id="237" name="Google Shape;237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forwarding-rules delete www-rule --region us-south1 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target-pools delete www-pool --region us-south1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http-health-checks delete basic-check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addresses delete network-lb-ip-1 --region us-south1 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instances delete www1 --zone=us-south1-b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instances delete www2 --zone=us-south1-b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instances delete www3 --zone=us-south1-b</a:t>
            </a:r>
            <a:br>
              <a:rPr lang="en" sz="1150">
                <a:latin typeface="Arial"/>
                <a:ea typeface="Arial"/>
                <a:cs typeface="Arial"/>
                <a:sym typeface="Arial"/>
              </a:rPr>
            </a:b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gcloud compute firewall-rules delete www-firewall-network-lb </a:t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Load Balancer</a:t>
            </a:r>
            <a:endParaRPr/>
          </a:p>
        </p:txBody>
      </p:sp>
      <p:sp>
        <p:nvSpPr>
          <p:cNvPr id="243" name="Google Shape;243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Non-pool based option</a:t>
            </a:r>
            <a:r>
              <a:rPr lang="en"/>
              <a:t> (currently preferred option but more </a:t>
            </a:r>
            <a:r>
              <a:rPr lang="en"/>
              <a:t>complicated)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Multiple protocols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Logging and Monitoring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Balancer Address Translation</a:t>
            </a:r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Clients </a:t>
            </a:r>
            <a:r>
              <a:rPr lang="en"/>
              <a:t>connect to load balancer IP address and expect answers from that IP.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VMs have their own IPs that the load balancer forwards to</a:t>
            </a:r>
            <a:endParaRPr/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u="sng">
                <a:solidFill>
                  <a:schemeClr val="hlink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On the backend instances that accept load-balanced traffic, you must configure the software to bind to the IP address associated with the load balancer's forwarding rule (or to any IP address, </a:t>
            </a:r>
            <a:r>
              <a:rPr lang="en" u="sng">
                <a:solidFill>
                  <a:schemeClr val="hlink"/>
                </a:solidFill>
                <a:highlight>
                  <a:schemeClr val="dk1"/>
                </a:highlight>
                <a:latin typeface="Roboto Mono"/>
                <a:ea typeface="Roboto Mono"/>
                <a:cs typeface="Roboto Mono"/>
                <a:sym typeface="Roboto Mono"/>
                <a:hlinkClick r:id="rId4"/>
              </a:rPr>
              <a:t>0.0.0.0/0</a:t>
            </a:r>
            <a:r>
              <a:rPr lang="en" u="sng">
                <a:solidFill>
                  <a:schemeClr val="hlink"/>
                </a:solidFill>
                <a:highlight>
                  <a:schemeClr val="dk1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).</a:t>
            </a:r>
            <a:endParaRPr>
              <a:highlight>
                <a:schemeClr val="dk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This is known as address spoofing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 Flow</a:t>
            </a:r>
            <a:endParaRPr/>
          </a:p>
        </p:txBody>
      </p:sp>
      <p:sp>
        <p:nvSpPr>
          <p:cNvPr id="255" name="Google Shape;255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an instance template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backend group based on the template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the firewall rules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the IP address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the health checker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backend service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Associate your instance group with the backend service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url map for the backend service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proxy instance for the url map</a:t>
            </a:r>
            <a:endParaRPr/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Create a forwarding rule to route to the proxy instance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 </a:t>
            </a:r>
            <a:endParaRPr/>
          </a:p>
        </p:txBody>
      </p:sp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1297500" y="1043350"/>
            <a:ext cx="7038900" cy="3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instance-templates create lb-backend-template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--region=REGION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--network=default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--subnet=default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--tags=allow-health-check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--machine-type=e2-medium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--image-family=debian-12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--image-project=debian-cloud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--metadata=startup-script='#!/bin/bash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apt-get update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apt-get install apache2 -y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a2ensite default-ssl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a2enmod ssl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vm_hostname="$(curl -H "Metadata-Flavor:Google"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http://169.254.169.254/computeMetadata/v1/instance/name)"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echo "Page served from: $vm_hostname" |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tee /var/www/html/index.html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 systemctl restart apache2'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#(The command above creates an instancetemplate)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</a:t>
            </a:r>
            <a:endParaRPr/>
          </a:p>
        </p:txBody>
      </p:sp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1297500" y="1166625"/>
            <a:ext cx="7038900" cy="37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instance-groups managed create lb-backend-group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--template=lb-backend-template --size=2 --zone=us-south1-b 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a backend instance group based on the template)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firewall-rules create fw-allow-health-check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--network=default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--action=allow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--direction=ingress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--source-ranges=130.211.0.0/22,35.191.0.0/16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--target-tags=allow-health-check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--rules=tcp:80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a firewall rule)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addresses create lb-ipv4-1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--ip-version=IPV4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--global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#(Now that you have instances create the IP that will be used to reach the loadbalancer)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</a:t>
            </a:r>
            <a:endParaRPr/>
          </a:p>
        </p:txBody>
      </p:sp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1297500" y="1081075"/>
            <a:ext cx="7038900" cy="3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addresses describe lb-ipv4-1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--format="get(address)"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--global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#(Find the IP)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health-checks create http http-basic-check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--port 80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a health checker)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backend-services create</a:t>
            </a:r>
            <a:r>
              <a:rPr lang="en" sz="1200">
                <a:latin typeface="Arial"/>
                <a:ea typeface="Arial"/>
                <a:cs typeface="Arial"/>
                <a:sym typeface="Arial"/>
              </a:rPr>
              <a:t> web-backend-service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--protocol=HTTP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--port-name=http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--health-checks=http-basic-check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--global 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 (Create a backend service)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>
            <p:ph type="title"/>
          </p:nvPr>
        </p:nvSpPr>
        <p:spPr>
          <a:xfrm>
            <a:off x="1297500" y="46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</a:t>
            </a:r>
            <a:endParaRPr/>
          </a:p>
        </p:txBody>
      </p:sp>
      <p:sp>
        <p:nvSpPr>
          <p:cNvPr id="279" name="Google Shape;279;p35"/>
          <p:cNvSpPr txBox="1"/>
          <p:nvPr>
            <p:ph idx="1" type="body"/>
          </p:nvPr>
        </p:nvSpPr>
        <p:spPr>
          <a:xfrm>
            <a:off x="1297500" y="618150"/>
            <a:ext cx="7038900" cy="4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backend-services add-backend web-backend-service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--instance-group=lb-backend-group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--instance-group-zone=us-south1-b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--global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#(Add your instance group to the backend service)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url-maps create web-map-http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--default-service web-backend-service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URL map to map requests to different backend services)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target-http-proxies create http-lb-proxy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--url-map web-map-http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a proxy instance that routes requests to the URL map)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gcloud compute forwarding-rules create http-content-rule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--address=lb-ipv4-1\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--global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--target-http-proxy=http-lb-proxy \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  --ports=80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#(Create a forwarding rule to route requests to the proxy)</a:t>
            </a:r>
            <a:endParaRPr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 Load Balancer</a:t>
            </a:r>
            <a:endParaRPr/>
          </a:p>
        </p:txBody>
      </p:sp>
      <p:sp>
        <p:nvSpPr>
          <p:cNvPr id="285" name="Google Shape;285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console to make one: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https://cloud.google.com/load-balancing/docs/https/ext-https-lb-simple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Virtual Private Cloud (VPC)</a:t>
            </a:r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 network functionality to your cloud deployments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Key concepts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Subnets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Routes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Firewalls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Internal load balancing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Default Network</a:t>
            </a:r>
            <a:endParaRPr/>
          </a:p>
        </p:txBody>
      </p:sp>
      <p:pic>
        <p:nvPicPr>
          <p:cNvPr id="292" name="Google Shape;29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4875" y="481875"/>
            <a:ext cx="587200" cy="5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Networking</a:t>
            </a:r>
            <a:endParaRPr/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Subnets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Parts of the network that have their own unique IP address range.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Different regions must belong to different subnets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Routes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Rules that </a:t>
            </a:r>
            <a:r>
              <a:rPr lang="en"/>
              <a:t>specify</a:t>
            </a:r>
            <a:r>
              <a:rPr lang="en"/>
              <a:t> how to route traffic from one subnet to another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Firewalls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Rules that </a:t>
            </a:r>
            <a:r>
              <a:rPr lang="en"/>
              <a:t>specify</a:t>
            </a:r>
            <a:r>
              <a:rPr lang="en"/>
              <a:t> what traffic is allowed to enter and leave each subnet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Internal load balancing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Similar to what we have seen but for internal traffic</a:t>
            </a:r>
            <a:endParaRPr/>
          </a:p>
          <a:p>
            <a:pPr indent="-3352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Default Network</a:t>
            </a:r>
            <a:endParaRPr/>
          </a:p>
          <a:p>
            <a:pPr indent="-30861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What you start with when you create a project.  It creates a subnet for every region you have resources in.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Example</a:t>
            </a:r>
            <a:endParaRPr/>
          </a:p>
        </p:txBody>
      </p:sp>
      <p:pic>
        <p:nvPicPr>
          <p:cNvPr id="304" name="Google Shape;304;p3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3325" y="292963"/>
            <a:ext cx="4399399" cy="38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Networking </a:t>
            </a:r>
            <a:endParaRPr/>
          </a:p>
        </p:txBody>
      </p:sp>
      <p:sp>
        <p:nvSpPr>
          <p:cNvPr id="310" name="Google Shape;310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Why</a:t>
            </a:r>
            <a:r>
              <a:rPr lang="en"/>
              <a:t> bother?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Engineering subnet shouldn’t talk to HR subnet?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Legal subnet </a:t>
            </a:r>
            <a:r>
              <a:rPr lang="en"/>
              <a:t>should</a:t>
            </a:r>
            <a:r>
              <a:rPr lang="en"/>
              <a:t> not talk to engineering subnet?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Executives should have access to all subnets?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Employees should have access to some assets in HR but not all?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….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VPC Networking Tutorial</a:t>
            </a:r>
            <a:endParaRPr/>
          </a:p>
        </p:txBody>
      </p:sp>
      <p:sp>
        <p:nvSpPr>
          <p:cNvPr id="316" name="Google Shape;316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Tutorial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Attendance poll</a:t>
            </a:r>
            <a:endParaRPr/>
          </a:p>
        </p:txBody>
      </p:sp>
      <p:sp>
        <p:nvSpPr>
          <p:cNvPr id="322" name="Google Shape;322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https://piazza.com/class/mkctevprups13o/post/161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next lecture read Andromeda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https://www.usenix.org/system/files/conference/nsdi18/nsdi18-dalton.pdf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